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charts/chart1.xml" ContentType="application/vnd.openxmlformats-officedocument.drawingml.char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9" r:id="rId14"/>
    <p:sldId id="270" r:id="rId15"/>
    <p:sldId id="261" r:id="rId6"/>
    <p:sldId id="262" r:id="rId7"/>
    <p:sldId id="263" r:id="rId8"/>
    <p:sldId id="264" r:id="rId9"/>
    <p:sldId id="265" r:id="rId10"/>
    <p:sldId id="266" r:id="rId11"/>
    <p:sldId id="267" r:id="rId12"/>
    <p:sldId id="271" r:id="rId16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17" Type="http://schemas.openxmlformats.org/officeDocument/2006/relationships/notesMaster" Target="notesMasters/notesMaster1.xml" 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" Type="http://schemas.openxmlformats.org/officeDocument/2006/relationships/slide" Target="slides/slide2.xml" /><Relationship Id="rId20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Relationship Id="rId2" Type="http://schemas.openxmlformats.org/officeDocument/2006/relationships/image" Target="media/image2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Relationship Id="rId2" Type="http://schemas.openxmlformats.org/officeDocument/2006/relationships/image" Target="media/image10.svg" /><Relationship Id="rId3" Type="http://schemas.openxmlformats.org/officeDocument/2006/relationships/image" Target="media/image11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6.svg" /><Relationship Id="rId2" Type="http://schemas.openxmlformats.org/officeDocument/2006/relationships/image" Target="media/image17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8.svg" /><Relationship Id="rId2" Type="http://schemas.openxmlformats.org/officeDocument/2006/relationships/image" Target="media/image19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6.svg" /><Relationship Id="rId1" Type="http://schemas.openxmlformats.org/officeDocument/2006/relationships/image" Target="media/image5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Relationship Id="rId2" Type="http://schemas.openxmlformats.org/officeDocument/2006/relationships/image" Target="media/image8.svg" /></Relationships>
</file>

<file path=ppt/slides/charts/chart1.xml><?xml version="1.0" encoding="utf-8"?>
<c:chartSpace xmlns:a="http://schemas.openxmlformats.org/drawingml/2006/main" xmlns:c="http://schemas.openxmlformats.org/drawingml/2006/chart">
  <c:chart>
    <c:title>
      <c:tx>
        <c:rich>
          <a:bodyPr/>
          <a:p>
            <a:pPr>
              <a:defRPr sz="1350">
                <a:solidFill>
                  <a:srgbClr val="0F2A43"/>
                </a:solidFill>
              </a:defRPr>
            </a:pPr>
            <a:r>
              <a:rPr sz="1350">
                <a:solidFill>
                  <a:srgbClr val="0F2A43"/>
                </a:solidFill>
              </a:rPr>
              <a:t>摇晃峰值悬浮比例：不同刷新率下的表现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0F2A43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改前（每帧固定预算）</c:v>
                </c:pt>
              </c:strCache>
            </c:strRef>
          </c:tx>
          <c:spPr>
            <a:solidFill>
              <a:srgbClr val="B03A2E"/>
            </a:solidFill>
          </c:spPr>
          <c:dLbls>
            <c:txPr>
              <a:bodyPr/>
              <a:p>
                <a:pPr>
                  <a:defRPr sz="750">
                    <a:solidFill>
                      <a:srgbClr val="1D4E79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3"/>
                <c:pt idx="0">
                  <c:v>30Hz</c:v>
                </c:pt>
                <c:pt idx="1">
                  <c:v>60Hz</c:v>
                </c:pt>
                <c:pt idx="2">
                  <c:v>120Hz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63.6</c:v>
                </c:pt>
                <c:pt idx="1">
                  <c:v>31.8</c:v>
                </c:pt>
                <c:pt idx="2">
                  <c:v>15.9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改后（28列/秒速率）</c:v>
                </c:pt>
              </c:strCache>
            </c:strRef>
          </c:tx>
          <c:spPr>
            <a:solidFill>
              <a:srgbClr val="1D4E79"/>
            </a:solidFill>
          </c:spPr>
          <c:dLbls>
            <c:txPr>
              <a:bodyPr/>
              <a:p>
                <a:pPr>
                  <a:defRPr sz="750">
                    <a:solidFill>
                      <a:srgbClr val="1D4E79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3"/>
                <c:pt idx="0">
                  <c:v>30Hz</c:v>
                </c:pt>
                <c:pt idx="1">
                  <c:v>60Hz</c:v>
                </c:pt>
                <c:pt idx="2">
                  <c:v>120Hz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74</c:v>
                </c:pt>
                <c:pt idx="1">
                  <c:v>74</c:v>
                </c:pt>
                <c:pt idx="2">
                  <c:v>74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5D6D7E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5D6D7E"/>
                </a:solidFill>
              </a:defRPr>
            </a:pPr>
          </a:p>
        </c:txPr>
        <c:crossAx val="89736801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p>
          <a:pPr>
            <a:defRPr sz="900">
              <a:solidFill>
                <a:srgbClr val="5D6D7E"/>
              </a:solidFill>
            </a:defRPr>
          </a:pPr>
        </a:p>
      </c:txPr>
    </c:legend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2A43"/>
              </a:gs>
              <a:gs pos="100000">
                <a:srgbClr val="1D4E79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alphaModFix amt="8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1428750"/>
            <a:ext cx="49530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650" spc="450">
                <a:solidFill>
                  <a:srgbClr val="7FB3D5"/>
                </a:solidFill>
                <a:latin typeface="Microsoft YaHei"/>
                <a:ea typeface="Microsoft YaHei"/>
              </a:rPr>
              <a:t xml:space="preserve">HelloWorld </a:t>
            </a:r>
            <a:r>
              <a:rPr lang="zh-CN" sz="1650" spc="450">
                <a:solidFill>
                  <a:srgbClr val="7FB3D5"/>
                </a:solidFill>
                <a:latin typeface="Microsoft YaHei"/>
                <a:ea typeface="Microsoft YaHei"/>
              </a:rPr>
              <a:t>流沙画</a:t>
            </a:r>
            <a:r>
              <a:rPr lang="en-US" sz="1650" spc="450">
                <a:solidFill>
                  <a:srgbClr val="7FB3D5"/>
                </a:solidFill>
                <a:latin typeface="Microsoft YaHei"/>
                <a:ea typeface="Microsoft YaHei"/>
              </a:rPr>
              <a:t xml:space="preserve"> · P-003 </a:t>
            </a:r>
            <a:r>
              <a:rPr lang="zh-CN" sz="1650" spc="450">
                <a:solidFill>
                  <a:srgbClr val="7FB3D5"/>
                </a:solidFill>
                <a:latin typeface="Microsoft YaHei"/>
                <a:ea typeface="Microsoft YaHei"/>
              </a:rPr>
              <a:t>算法方案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62000" y="2162175"/>
            <a:ext cx="49530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水沙三相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算法讲解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762000" y="4152900"/>
            <a:ext cx="762000" cy="57150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/>
        </p:spPr>
        <p:txBody>
          <a:bodyPr/>
          <a:p>
            <a:pPr/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4438650"/>
            <a:ext cx="4953000" cy="8096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C8D8E6"/>
                </a:solidFill>
                <a:latin typeface="Microsoft YaHei"/>
                <a:ea typeface="Microsoft YaHei"/>
              </a:rPr>
              <a:t>把「水中的两种沙」变成</a:t>
            </a:r>
            <a:r>
              <a:rPr lang="en-US" sz="1650">
                <a:solidFill>
                  <a:srgbClr val="C8D8E6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1650">
                <a:solidFill>
                  <a:srgbClr val="C8D8E6"/>
                </a:solidFill>
                <a:latin typeface="Microsoft YaHei"/>
                <a:ea typeface="Microsoft YaHei"/>
              </a:rPr>
              <a:t>列</a:t>
            </a:r>
            <a:r>
              <a:rPr lang="en-US" sz="1650">
                <a:solidFill>
                  <a:srgbClr val="C8D8E6"/>
                </a:solidFill>
                <a:latin typeface="Microsoft YaHei"/>
                <a:ea typeface="Microsoft YaHei"/>
              </a:rPr>
              <a:t xml:space="preserve"> × 6 </a:t>
            </a:r>
            <a:r>
              <a:rPr lang="zh-CN" sz="1650">
                <a:solidFill>
                  <a:srgbClr val="C8D8E6"/>
                </a:solidFill>
                <a:latin typeface="Microsoft YaHei"/>
                <a:ea typeface="Microsoft YaHei"/>
              </a:rPr>
              <a:t>个数字，</a:t>
            </a:r>
            <a:endParaRPr/>
          </a:p>
          <a:p>
            <a:pPr>
              <a:lnSpc>
                <a:spcPct val="160000"/>
              </a:lnSpc>
            </a:pPr>
            <a:r>
              <a:rPr lang="zh-CN" sz="1650">
                <a:solidFill>
                  <a:srgbClr val="C8D8E6"/>
                </a:solidFill>
                <a:latin typeface="Microsoft YaHei"/>
                <a:ea typeface="Microsoft YaHei"/>
              </a:rPr>
              <a:t>用四条物理机制</a:t>
            </a:r>
            <a:r>
              <a:rPr lang="en-US" sz="1650">
                <a:solidFill>
                  <a:srgbClr val="C8D8E6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650">
                <a:solidFill>
                  <a:srgbClr val="C8D8E6"/>
                </a:solidFill>
                <a:latin typeface="Microsoft YaHei"/>
                <a:ea typeface="Microsoft YaHei"/>
              </a:rPr>
              <a:t>一条守恒底线跑通全部场景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559117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D6D7E"/>
                </a:solidFill>
                <a:latin typeface="Microsoft YaHei"/>
                <a:ea typeface="Microsoft YaHei"/>
              </a:rPr>
              <a:t>方案版本</a:t>
            </a:r>
            <a:r>
              <a:rPr lang="en-US" sz="1200">
                <a:solidFill>
                  <a:srgbClr val="5D6D7E"/>
                </a:solidFill>
                <a:latin typeface="Microsoft YaHei"/>
                <a:ea typeface="Microsoft YaHei"/>
              </a:rPr>
              <a:t xml:space="preserve"> v2.4 · 2026-10-14</a:t>
            </a:r>
            <a:endParaRPr/>
          </a:p>
        </p:txBody>
      </p:sp>
      <p:pic>
        <p:nvPicPr>
          <p:cNvPr id="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286500" y="1143000"/>
            <a:ext cx="5334000" cy="4572000"/>
          </a:xfrm>
          <a:prstGeom prst="rect">
            <a:avLst/>
          </a:prstGeom>
          <a:ln/>
        </p:spPr>
      </p:pic>
      <p:sp>
        <p:nvSpPr>
          <p:cNvPr id="10" name=""/>
          <p:cNvSpPr/>
          <p:nvPr/>
        </p:nvSpPr>
        <p:spPr>
          <a:xfrm rot="0" flipH="0" flipV="0">
            <a:off x="571500" y="6534150"/>
            <a:ext cx="114300" cy="1143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p>
            <a:pPr/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6505575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D6D7E"/>
                </a:solidFill>
                <a:latin typeface="Microsoft YaHei"/>
                <a:ea typeface="Microsoft YaHei"/>
              </a:rPr>
              <a:t>水沙三相算法</a:t>
            </a: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 xml:space="preserve"> · HelloWorld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11633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>01 / 14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>
            <a:pPr/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71500" y="4762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2A43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71500" y="2762250"/>
            <a:ext cx="3238500" cy="17145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2C3E50"/>
                </a:solidFill>
                <a:latin typeface="Microsoft YaHei"/>
                <a:ea typeface="Microsoft YaHei"/>
              </a:rPr>
              <a:t>整套方案回答三个问题：</a:t>
            </a:r>
            <a:endParaRPr/>
          </a:p>
          <a:p>
            <a:pPr>
              <a:lnSpc>
                <a:spcPct val="170000"/>
              </a:lnSpc>
            </a:pPr>
            <a:r>
              <a:rPr lang="zh-CN" sz="1650" b="1">
                <a:solidFill>
                  <a:srgbClr val="1D4E79"/>
                </a:solidFill>
                <a:latin typeface="Microsoft YaHei"/>
                <a:ea typeface="Microsoft YaHei"/>
              </a:rPr>
              <a:t>状态怎么表示、</a:t>
            </a:r>
            <a:r>
              <a:rPr sz="1650" b="1">
                <a:solidFill>
                  <a:srgbClr val="1D4E79"/>
                </a:solidFill>
                <a:latin typeface="Microsoft YaHei"/>
                <a:ea typeface="Microsoft YaHei"/>
              </a:rPr>
              <a:t xml:space="preserve">
</a:t>
            </a:r>
            <a:r>
              <a:rPr lang="zh-CN" sz="1650" b="1">
                <a:solidFill>
                  <a:srgbClr val="1D4E79"/>
                </a:solidFill>
                <a:latin typeface="Microsoft YaHei"/>
                <a:ea typeface="Microsoft YaHei"/>
              </a:rPr>
              <a:t>错误怎么改掉、</a:t>
            </a:r>
            <a:r>
              <a:rPr sz="1650" b="1">
                <a:solidFill>
                  <a:srgbClr val="1D4E79"/>
                </a:solidFill>
                <a:latin typeface="Microsoft YaHei"/>
                <a:ea typeface="Microsoft YaHei"/>
              </a:rPr>
              <a:t xml:space="preserve">
</a:t>
            </a:r>
            <a:r>
              <a:rPr lang="zh-CN" sz="1650" b="1">
                <a:solidFill>
                  <a:srgbClr val="1D4E79"/>
                </a:solidFill>
                <a:latin typeface="Microsoft YaHei"/>
                <a:ea typeface="Microsoft YaHei"/>
              </a:rPr>
              <a:t>数字怎么验证。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571500" y="4629150"/>
            <a:ext cx="571500" cy="47625"/>
          </a:xfrm>
          <a:prstGeom prst="roundRect">
            <a:avLst>
              <a:gd name="adj" fmla="val 60000"/>
            </a:avLst>
          </a:prstGeom>
          <a:solidFill>
            <a:srgbClr val="F39C12"/>
          </a:solidFill>
          <a:ln/>
        </p:spPr>
        <p:txBody>
          <a:bodyPr/>
          <a:p>
            <a:pPr/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4191000" y="1695450"/>
            <a:ext cx="7429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2A43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4457700" y="1905000"/>
            <a:ext cx="685800" cy="685800"/>
          </a:xfrm>
          <a:prstGeom prst="roundRect">
            <a:avLst>
              <a:gd name="adj" fmla="val 19444"/>
            </a:avLst>
          </a:prstGeom>
          <a:solidFill>
            <a:srgbClr val="0F2A43"/>
          </a:solidFill>
          <a:ln/>
        </p:spPr>
        <p:txBody>
          <a:bodyPr/>
          <a:p>
            <a:pPr/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4638675" y="208597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5372100" y="1924050"/>
            <a:ext cx="541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D4E79"/>
                </a:solidFill>
                <a:latin typeface="Microsoft YaHei"/>
                <a:ea typeface="Microsoft YaHei"/>
              </a:rPr>
              <a:t>模型是什么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5372100" y="2257425"/>
            <a:ext cx="5410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5D6D7E"/>
                </a:solidFill>
                <a:latin typeface="Microsoft YaHei"/>
                <a:ea typeface="Microsoft YaHei"/>
              </a:rPr>
              <a:t>每列</a:t>
            </a:r>
            <a:r>
              <a:rPr lang="en-US" sz="1350">
                <a:solidFill>
                  <a:srgbClr val="5D6D7E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350">
                <a:solidFill>
                  <a:srgbClr val="5D6D7E"/>
                </a:solidFill>
                <a:latin typeface="Microsoft YaHei"/>
                <a:ea typeface="Microsoft YaHei"/>
              </a:rPr>
              <a:t>个数字表示水</a:t>
            </a:r>
            <a:r>
              <a:rPr lang="en-US" sz="1350">
                <a:solidFill>
                  <a:srgbClr val="5D6D7E"/>
                </a:solidFill>
                <a:latin typeface="Microsoft YaHei"/>
                <a:ea typeface="Microsoft YaHei"/>
              </a:rPr>
              <a:t>+</a:t>
            </a:r>
            <a:r>
              <a:rPr lang="zh-CN" sz="1350">
                <a:solidFill>
                  <a:srgbClr val="5D6D7E"/>
                </a:solidFill>
                <a:latin typeface="Microsoft YaHei"/>
                <a:ea typeface="Microsoft YaHei"/>
              </a:rPr>
              <a:t>重沙</a:t>
            </a:r>
            <a:r>
              <a:rPr lang="en-US" sz="1350">
                <a:solidFill>
                  <a:srgbClr val="5D6D7E"/>
                </a:solidFill>
                <a:latin typeface="Microsoft YaHei"/>
                <a:ea typeface="Microsoft YaHei"/>
              </a:rPr>
              <a:t>+</a:t>
            </a:r>
            <a:r>
              <a:rPr lang="zh-CN" sz="1350">
                <a:solidFill>
                  <a:srgbClr val="5D6D7E"/>
                </a:solidFill>
                <a:latin typeface="Microsoft YaHei"/>
                <a:ea typeface="Microsoft YaHei"/>
              </a:rPr>
              <a:t>轻沙；四步流水线推进；分相守恒是地基</a:t>
            </a:r>
            <a:endParaRPr/>
          </a:p>
        </p:txBody>
      </p:sp>
      <p:pic>
        <p:nvPicPr>
          <p:cNvPr id="1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010900" y="2076450"/>
            <a:ext cx="342900" cy="342900"/>
          </a:xfrm>
          <a:prstGeom prst="rect">
            <a:avLst/>
          </a:prstGeom>
          <a:ln/>
        </p:spPr>
      </p:pic>
      <p:sp>
        <p:nvSpPr>
          <p:cNvPr id="150" name=""/>
          <p:cNvSpPr/>
          <p:nvPr/>
        </p:nvSpPr>
        <p:spPr>
          <a:xfrm rot="0" flipH="0" flipV="0">
            <a:off x="4191000" y="3028950"/>
            <a:ext cx="7429500" cy="137160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2A43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4457700" y="3371850"/>
            <a:ext cx="685800" cy="685800"/>
          </a:xfrm>
          <a:prstGeom prst="roundRect">
            <a:avLst>
              <a:gd name="adj" fmla="val 19444"/>
            </a:avLst>
          </a:prstGeom>
          <a:solidFill>
            <a:srgbClr val="0F2A43"/>
          </a:solidFill>
          <a:ln/>
        </p:spPr>
        <p:txBody>
          <a:bodyPr/>
          <a:p>
            <a:pPr/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4638675" y="35528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372100" y="3238500"/>
            <a:ext cx="541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D4E79"/>
                </a:solidFill>
                <a:latin typeface="Microsoft YaHei"/>
                <a:ea typeface="Microsoft YaHei"/>
              </a:rPr>
              <a:t>四轮迭代修了什么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372100" y="3571875"/>
            <a:ext cx="54102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5D6D7E"/>
                </a:solidFill>
                <a:latin typeface="Microsoft YaHei"/>
                <a:ea typeface="Microsoft YaHei"/>
              </a:rPr>
              <a:t xml:space="preserve">v1 </a:t>
            </a:r>
            <a:r>
              <a:rPr lang="zh-CN" sz="1350">
                <a:solidFill>
                  <a:srgbClr val="5D6D7E"/>
                </a:solidFill>
                <a:latin typeface="Microsoft YaHei"/>
                <a:ea typeface="Microsoft YaHei"/>
              </a:rPr>
              <a:t>守恒缺陷</a:t>
            </a:r>
            <a:r>
              <a:rPr lang="en-US" sz="1350">
                <a:solidFill>
                  <a:srgbClr val="5D6D7E"/>
                </a:solidFill>
                <a:latin typeface="Microsoft YaHei"/>
                <a:ea typeface="Microsoft YaHei"/>
              </a:rPr>
              <a:t xml:space="preserve"> → v2 </a:t>
            </a:r>
            <a:r>
              <a:rPr lang="zh-CN" sz="1350">
                <a:solidFill>
                  <a:srgbClr val="5D6D7E"/>
                </a:solidFill>
                <a:latin typeface="Microsoft YaHei"/>
                <a:ea typeface="Microsoft YaHei"/>
              </a:rPr>
              <a:t>账本改造</a:t>
            </a:r>
            <a:r>
              <a:rPr lang="en-US" sz="1350">
                <a:solidFill>
                  <a:srgbClr val="5D6D7E"/>
                </a:solidFill>
                <a:latin typeface="Microsoft YaHei"/>
                <a:ea typeface="Microsoft YaHei"/>
              </a:rPr>
              <a:t xml:space="preserve"> → v2.2 </a:t>
            </a:r>
            <a:r>
              <a:rPr lang="zh-CN" sz="1350">
                <a:solidFill>
                  <a:srgbClr val="5D6D7E"/>
                </a:solidFill>
                <a:latin typeface="Microsoft YaHei"/>
                <a:ea typeface="Microsoft YaHei"/>
              </a:rPr>
              <a:t>速率化</a:t>
            </a:r>
            <a:r>
              <a:rPr lang="en-US" sz="1350">
                <a:solidFill>
                  <a:srgbClr val="5D6D7E"/>
                </a:solidFill>
                <a:latin typeface="Microsoft YaHei"/>
                <a:ea typeface="Microsoft YaHei"/>
              </a:rPr>
              <a:t xml:space="preserve"> → v2.3/v2.4 </a:t>
            </a:r>
            <a:r>
              <a:rPr lang="zh-CN" sz="1350">
                <a:solidFill>
                  <a:srgbClr val="5D6D7E"/>
                </a:solidFill>
                <a:latin typeface="Microsoft YaHei"/>
                <a:ea typeface="Microsoft YaHei"/>
              </a:rPr>
              <a:t>参数与判据收尾</a:t>
            </a:r>
            <a:endParaRPr/>
          </a:p>
        </p:txBody>
      </p:sp>
      <p:pic>
        <p:nvPicPr>
          <p:cNvPr id="1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010900" y="3543300"/>
            <a:ext cx="342900" cy="342900"/>
          </a:xfrm>
          <a:prstGeom prst="rect">
            <a:avLst/>
          </a:prstGeom>
          <a:ln/>
        </p:spPr>
      </p:pic>
      <p:sp>
        <p:nvSpPr>
          <p:cNvPr id="156" name=""/>
          <p:cNvSpPr/>
          <p:nvPr/>
        </p:nvSpPr>
        <p:spPr>
          <a:xfrm rot="0" flipH="0" flipV="0">
            <a:off x="4191000" y="4629150"/>
            <a:ext cx="7429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2A43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4457700" y="4838700"/>
            <a:ext cx="685800" cy="685800"/>
          </a:xfrm>
          <a:prstGeom prst="roundRect">
            <a:avLst>
              <a:gd name="adj" fmla="val 19444"/>
            </a:avLst>
          </a:prstGeom>
          <a:solidFill>
            <a:srgbClr val="0F2A43"/>
          </a:solidFill>
          <a:ln/>
        </p:spPr>
        <p:txBody>
          <a:bodyPr/>
          <a:p>
            <a:pPr/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4638675" y="501967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372100" y="4857750"/>
            <a:ext cx="541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D4E79"/>
                </a:solidFill>
                <a:latin typeface="Microsoft YaHei"/>
                <a:ea typeface="Microsoft YaHei"/>
              </a:rPr>
              <a:t>数字怎么验证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372100" y="5191125"/>
            <a:ext cx="5410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5D6D7E"/>
                </a:solidFill>
                <a:latin typeface="Microsoft YaHei"/>
                <a:ea typeface="Microsoft YaHei"/>
              </a:rPr>
              <a:t>峰值</a:t>
            </a:r>
            <a:r>
              <a:rPr lang="en-US" sz="1350">
                <a:solidFill>
                  <a:srgbClr val="5D6D7E"/>
                </a:solidFill>
                <a:latin typeface="Microsoft YaHei"/>
                <a:ea typeface="Microsoft YaHei"/>
              </a:rPr>
              <a:t xml:space="preserve"> 74% </a:t>
            </a:r>
            <a:r>
              <a:rPr lang="zh-CN" sz="1350">
                <a:solidFill>
                  <a:srgbClr val="5D6D7E"/>
                </a:solidFill>
                <a:latin typeface="Microsoft YaHei"/>
                <a:ea typeface="Microsoft YaHei"/>
              </a:rPr>
              <a:t>可手算复核；三条验收底线；一个待办的坑</a:t>
            </a:r>
            <a:endParaRPr/>
          </a:p>
        </p:txBody>
      </p:sp>
      <p:pic>
        <p:nvPicPr>
          <p:cNvPr id="1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1010900" y="5010150"/>
            <a:ext cx="342900" cy="342900"/>
          </a:xfrm>
          <a:prstGeom prst="rect">
            <a:avLst/>
          </a:prstGeom>
          <a:ln/>
        </p:spPr>
      </p:pic>
      <p:sp>
        <p:nvSpPr>
          <p:cNvPr id="162" name=""/>
          <p:cNvSpPr/>
          <p:nvPr/>
        </p:nvSpPr>
        <p:spPr>
          <a:xfrm rot="0" flipH="0" flipV="0">
            <a:off x="571500" y="6429375"/>
            <a:ext cx="114300" cy="114300"/>
          </a:xfrm>
          <a:prstGeom prst="rect">
            <a:avLst/>
          </a:prstGeom>
          <a:solidFill>
            <a:srgbClr val="1D4E79"/>
          </a:solidFill>
          <a:ln/>
        </p:spPr>
        <p:txBody>
          <a:bodyPr/>
          <a:p>
            <a:pPr/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762000" y="6400800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D6D7E"/>
                </a:solidFill>
                <a:latin typeface="Microsoft YaHei"/>
                <a:ea typeface="Microsoft YaHei"/>
              </a:rPr>
              <a:t>水沙三相算法</a:t>
            </a: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 xml:space="preserve"> · HelloWorld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>02 / 14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2A43"/>
              </a:gs>
              <a:gs pos="100000">
                <a:srgbClr val="1D4E79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pic>
        <p:nvPicPr>
          <p:cNvPr id="167" name=""/>
          <p:cNvPicPr>
            <a:picLocks noChangeAspect="1"/>
          </p:cNvPicPr>
          <p:nvPr/>
        </p:nvPicPr>
        <p:blipFill>
          <a:blip>
            <a:alphaModFix amt="1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391150" y="1552575"/>
            <a:ext cx="1419225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F39C12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762500" y="3190875"/>
            <a:ext cx="26670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模型是什么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5667375" y="4105275"/>
            <a:ext cx="857250" cy="57150"/>
          </a:xfrm>
          <a:prstGeom prst="roundRect">
            <a:avLst>
              <a:gd name="adj" fmla="val 50000"/>
            </a:avLst>
          </a:prstGeom>
          <a:solidFill>
            <a:srgbClr val="7FB3D5"/>
          </a:solidFill>
          <a:ln/>
        </p:spPr>
        <p:txBody>
          <a:bodyPr/>
          <a:p>
            <a:pPr/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3657600" y="4429125"/>
            <a:ext cx="4886325" cy="8858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800">
                <a:solidFill>
                  <a:srgbClr val="C8D8E6"/>
                </a:solidFill>
                <a:latin typeface="Microsoft YaHei"/>
                <a:ea typeface="Microsoft YaHei"/>
              </a:rPr>
              <a:t>把连续的液体和两种沙，变成每列</a:t>
            </a:r>
            <a:r>
              <a:rPr lang="en-US" sz="1800">
                <a:solidFill>
                  <a:srgbClr val="C8D8E6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800">
                <a:solidFill>
                  <a:srgbClr val="C8D8E6"/>
                </a:solidFill>
                <a:latin typeface="Microsoft YaHei"/>
                <a:ea typeface="Microsoft YaHei"/>
              </a:rPr>
              <a:t>个数字——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1800">
                <a:solidFill>
                  <a:srgbClr val="C8D8E6"/>
                </a:solidFill>
                <a:latin typeface="Microsoft YaHei"/>
                <a:ea typeface="Microsoft YaHei"/>
              </a:rPr>
              <a:t>状态、机制、守恒，一层层搭起来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571500" y="6534150"/>
            <a:ext cx="114300" cy="1143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p>
            <a:pPr/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62000" y="6505575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D6D7E"/>
                </a:solidFill>
                <a:latin typeface="Microsoft YaHei"/>
                <a:ea typeface="Microsoft YaHei"/>
              </a:rPr>
              <a:t>水沙三相算法</a:t>
            </a: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 xml:space="preserve"> · HelloWorld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11633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>03 / 14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>
            <a:pPr/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571500" y="4762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2A43"/>
                </a:solidFill>
                <a:latin typeface="Microsoft YaHei"/>
                <a:ea typeface="Microsoft YaHei"/>
              </a:rPr>
              <a:t>一列只有</a:t>
            </a:r>
            <a:r>
              <a:rPr lang="en-US" sz="2550" b="1">
                <a:solidFill>
                  <a:srgbClr val="0F2A43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2550" b="1">
                <a:solidFill>
                  <a:srgbClr val="0F2A43"/>
                </a:solidFill>
                <a:latin typeface="Microsoft YaHei"/>
                <a:ea typeface="Microsoft YaHei"/>
              </a:rPr>
              <a:t>个数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571500" y="1143000"/>
            <a:ext cx="5334000" cy="51435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2A43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1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" y="1619250"/>
            <a:ext cx="4953000" cy="4191000"/>
          </a:xfrm>
          <a:prstGeom prst="rect">
            <a:avLst/>
          </a:prstGeom>
          <a:ln/>
        </p:spPr>
      </p:pic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248400" y="1743075"/>
            <a:ext cx="5372100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650">
                <a:solidFill>
                  <a:srgbClr val="2C3E50"/>
                </a:solidFill>
                <a:latin typeface="Microsoft YaHei"/>
                <a:ea typeface="Microsoft YaHei"/>
              </a:rPr>
              <a:t>不是逐颗粒子——每列只记</a:t>
            </a:r>
            <a:r>
              <a:rPr lang="en-US" sz="1650">
                <a:solidFill>
                  <a:srgbClr val="2C3E5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650" b="1">
                <a:solidFill>
                  <a:srgbClr val="1D4E79"/>
                </a:solidFill>
                <a:latin typeface="Microsoft YaHei"/>
                <a:ea typeface="Microsoft YaHei"/>
              </a:rPr>
              <a:t xml:space="preserve">6 </a:t>
            </a:r>
            <a:r>
              <a:rPr lang="zh-CN" sz="1650" b="1">
                <a:solidFill>
                  <a:srgbClr val="1D4E79"/>
                </a:solidFill>
                <a:latin typeface="Microsoft YaHei"/>
                <a:ea typeface="Microsoft YaHei"/>
              </a:rPr>
              <a:t>个数</a:t>
            </a:r>
            <a:r>
              <a:rPr lang="zh-CN" sz="1650">
                <a:solidFill>
                  <a:srgbClr val="2C3E50"/>
                </a:solidFill>
                <a:latin typeface="Microsoft YaHei"/>
                <a:ea typeface="Microsoft YaHei"/>
              </a:rPr>
              <a:t>：</a:t>
            </a:r>
            <a:r>
              <a:rPr lang="en-US" sz="1650">
                <a:solidFill>
                  <a:srgbClr val="2C3E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650">
                <a:solidFill>
                  <a:srgbClr val="2C3E50"/>
                </a:solidFill>
                <a:latin typeface="Microsoft YaHei"/>
                <a:ea typeface="Microsoft YaHei"/>
              </a:rPr>
              <a:t>水面高度、悬浮重沙、悬浮轻沙，以及沙堆内部的三层结构（有序重层、有序轻层、混合表层）。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248400" y="3162300"/>
            <a:ext cx="5372100" cy="1409700"/>
          </a:xfrm>
          <a:prstGeom prst="roundRect">
            <a:avLst>
              <a:gd name="adj" fmla="val 8108"/>
            </a:avLst>
          </a:prstGeom>
          <a:solidFill>
            <a:srgbClr val="7FB3D5">
              <a:alpha val="1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438900" y="3314700"/>
            <a:ext cx="49911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 b="1">
                <a:solidFill>
                  <a:srgbClr val="1D4E79"/>
                </a:solidFill>
                <a:latin typeface="Microsoft YaHei"/>
                <a:ea typeface="Microsoft YaHei"/>
              </a:rPr>
              <a:t>为什么够用？</a:t>
            </a:r>
            <a:endParaRPr/>
          </a:p>
          <a:p>
            <a:pPr>
              <a:lnSpc>
                <a:spcPct val="160000"/>
              </a:lnSpc>
            </a:pPr>
            <a:r>
              <a:rPr lang="zh-CN" sz="1500">
                <a:solidFill>
                  <a:srgbClr val="2C3E50"/>
                </a:solidFill>
                <a:latin typeface="Microsoft YaHei"/>
                <a:ea typeface="Microsoft YaHei"/>
              </a:rPr>
              <a:t>沙画看的是「哪层沙在哪」，不是每颗沙的轨迹。列内的垂直相序由四层账本精确记录，横向只需相邻列之间搬运。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248400" y="4743450"/>
            <a:ext cx="1685925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2A43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858000" y="4895850"/>
            <a:ext cx="4762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D4E79"/>
                </a:solidFill>
                <a:latin typeface="Microsoft YaHei"/>
                <a:ea typeface="Microsoft YaHei"/>
              </a:rPr>
              <a:t>28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019925" y="535305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D6D7E"/>
                </a:solidFill>
                <a:latin typeface="Microsoft YaHei"/>
                <a:ea typeface="Microsoft YaHei"/>
              </a:rPr>
              <a:t>列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8086725" y="4743450"/>
            <a:ext cx="16954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2A43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667750" y="4895850"/>
            <a:ext cx="5334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D4E79"/>
                </a:solidFill>
                <a:latin typeface="Microsoft YaHei"/>
                <a:ea typeface="Microsoft YaHei"/>
              </a:rPr>
              <a:t>×6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677275" y="5353050"/>
            <a:ext cx="523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D6D7E"/>
                </a:solidFill>
                <a:latin typeface="Microsoft YaHei"/>
                <a:ea typeface="Microsoft YaHei"/>
              </a:rPr>
              <a:t>个数</a:t>
            </a:r>
            <a:r>
              <a:rPr lang="en-US" sz="1200">
                <a:solidFill>
                  <a:srgbClr val="5D6D7E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5D6D7E"/>
                </a:solidFill>
                <a:latin typeface="Microsoft YaHei"/>
                <a:ea typeface="Microsoft YaHei"/>
              </a:rPr>
              <a:t>列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9934575" y="4743450"/>
            <a:ext cx="1685925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2A43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0420350" y="4895850"/>
            <a:ext cx="7143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39C12"/>
                </a:solidFill>
                <a:latin typeface="Microsoft YaHei"/>
                <a:ea typeface="Microsoft YaHei"/>
              </a:rPr>
              <a:t>168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0144125" y="5353050"/>
            <a:ext cx="1276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D6D7E"/>
                </a:solidFill>
                <a:latin typeface="Microsoft YaHei"/>
                <a:ea typeface="Microsoft YaHei"/>
              </a:rPr>
              <a:t>个数字</a:t>
            </a:r>
            <a:r>
              <a:rPr lang="en-US" sz="1200">
                <a:solidFill>
                  <a:srgbClr val="5D6D7E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200">
                <a:solidFill>
                  <a:srgbClr val="5D6D7E"/>
                </a:solidFill>
                <a:latin typeface="Microsoft YaHei"/>
                <a:ea typeface="Microsoft YaHei"/>
              </a:rPr>
              <a:t>全部状态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571500" y="6429375"/>
            <a:ext cx="114300" cy="114300"/>
          </a:xfrm>
          <a:prstGeom prst="rect">
            <a:avLst/>
          </a:prstGeom>
          <a:solidFill>
            <a:srgbClr val="1D4E79"/>
          </a:solidFill>
          <a:ln/>
        </p:spPr>
        <p:txBody>
          <a:bodyPr/>
          <a:p>
            <a:pPr/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62000" y="6400800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D6D7E"/>
                </a:solidFill>
                <a:latin typeface="Microsoft YaHei"/>
                <a:ea typeface="Microsoft YaHei"/>
              </a:rPr>
              <a:t>水沙三相算法</a:t>
            </a: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 xml:space="preserve"> · HelloWorld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>
            <a:pPr/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71500" y="4762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2A43"/>
                </a:solidFill>
                <a:latin typeface="Microsoft YaHei"/>
                <a:ea typeface="Microsoft YaHei"/>
              </a:rPr>
              <a:t>每个子步的四步流水线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571500" y="1143000"/>
            <a:ext cx="3143250" cy="5143500"/>
          </a:xfrm>
          <a:prstGeom prst="roundRect">
            <a:avLst>
              <a:gd name="adj" fmla="val 4848"/>
            </a:avLst>
          </a:prstGeom>
          <a:solidFill>
            <a:srgbClr val="0F2A43"/>
          </a:solidFill>
          <a:ln/>
        </p:spPr>
        <p:txBody>
          <a:bodyPr/>
          <a:p>
            <a:pPr/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38200" y="1676400"/>
            <a:ext cx="2609850" cy="1285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物理时钟每次走一小步（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1/120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秒），固定按四步执行：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38200" y="3133725"/>
            <a:ext cx="260985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C8D8E6"/>
                </a:solidFill>
                <a:latin typeface="Microsoft YaHei"/>
                <a:ea typeface="Microsoft YaHei"/>
              </a:rPr>
              <a:t>顺序不能乱——先定水面，再让沙沉，再做坡面修正，最后对账。每一步都有速率上限兜底。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838200" y="4362450"/>
            <a:ext cx="2609850" cy="1400175"/>
          </a:xfrm>
          <a:prstGeom prst="roundRect">
            <a:avLst>
              <a:gd name="adj" fmla="val 6803"/>
            </a:avLst>
          </a:prstGeom>
          <a:solidFill>
            <a:srgbClr val="F39C12">
              <a:alpha val="1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971550" y="4495800"/>
            <a:ext cx="2343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39C12"/>
                </a:solidFill>
                <a:latin typeface="Microsoft YaHei"/>
                <a:ea typeface="Microsoft YaHei"/>
              </a:rPr>
              <a:t>关键数字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971550" y="4695825"/>
            <a:ext cx="2343150" cy="933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C8D8E6"/>
                </a:solidFill>
                <a:latin typeface="Microsoft YaHei"/>
                <a:ea typeface="Microsoft YaHei"/>
              </a:rPr>
              <a:t>沉降速度</a:t>
            </a:r>
            <a:r>
              <a:rPr lang="en-US" sz="1275">
                <a:solidFill>
                  <a:srgbClr val="C8D8E6"/>
                </a:solidFill>
                <a:latin typeface="Microsoft YaHei"/>
                <a:ea typeface="Microsoft YaHei"/>
              </a:rPr>
              <a:t xml:space="preserve"> 64 / 38 </a:t>
            </a:r>
            <a:r>
              <a:rPr lang="zh-CN" sz="1275">
                <a:solidFill>
                  <a:srgbClr val="C8D8E6"/>
                </a:solidFill>
                <a:latin typeface="Microsoft YaHei"/>
                <a:ea typeface="Microsoft YaHei"/>
              </a:rPr>
              <a:t>列每秒</a:t>
            </a:r>
            <a:endParaRPr/>
          </a:p>
          <a:p>
            <a:pPr>
              <a:lnSpc>
                <a:spcPct val="160000"/>
              </a:lnSpc>
            </a:pPr>
            <a:r>
              <a:rPr lang="zh-CN" sz="1275">
                <a:solidFill>
                  <a:srgbClr val="C8D8E6"/>
                </a:solidFill>
                <a:latin typeface="Microsoft YaHei"/>
                <a:ea typeface="Microsoft YaHei"/>
              </a:rPr>
              <a:t>坡度阈值</a:t>
            </a:r>
            <a:r>
              <a:rPr lang="en-US" sz="1275">
                <a:solidFill>
                  <a:srgbClr val="C8D8E6"/>
                </a:solidFill>
                <a:latin typeface="Microsoft YaHei"/>
                <a:ea typeface="Microsoft YaHei"/>
              </a:rPr>
              <a:t xml:space="preserve"> tan 30°</a:t>
            </a:r>
            <a:endParaRPr/>
          </a:p>
          <a:p>
            <a:pPr>
              <a:lnSpc>
                <a:spcPct val="160000"/>
              </a:lnSpc>
            </a:pPr>
            <a:r>
              <a:rPr lang="zh-CN" sz="1275">
                <a:solidFill>
                  <a:srgbClr val="C8D8E6"/>
                </a:solidFill>
                <a:latin typeface="Microsoft YaHei"/>
                <a:ea typeface="Microsoft YaHei"/>
              </a:rPr>
              <a:t>沙顶速率</a:t>
            </a:r>
            <a:r>
              <a:rPr lang="en-US" sz="1275">
                <a:solidFill>
                  <a:srgbClr val="C8D8E6"/>
                </a:solidFill>
                <a:latin typeface="Microsoft YaHei"/>
                <a:ea typeface="Microsoft YaHei"/>
              </a:rPr>
              <a:t xml:space="preserve"> ≤ 28 </a:t>
            </a:r>
            <a:r>
              <a:rPr lang="zh-CN" sz="1275">
                <a:solidFill>
                  <a:srgbClr val="C8D8E6"/>
                </a:solidFill>
                <a:latin typeface="Microsoft YaHei"/>
                <a:ea typeface="Microsoft YaHei"/>
              </a:rPr>
              <a:t>列每秒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4057650" y="1143000"/>
            <a:ext cx="7562850" cy="51435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2A43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2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286250" y="1666875"/>
            <a:ext cx="7239000" cy="4095750"/>
          </a:xfrm>
          <a:prstGeom prst="rect">
            <a:avLst/>
          </a:prstGeom>
          <a:ln/>
        </p:spPr>
      </p:pic>
      <p:sp>
        <p:nvSpPr>
          <p:cNvPr id="206" name=""/>
          <p:cNvSpPr/>
          <p:nvPr/>
        </p:nvSpPr>
        <p:spPr>
          <a:xfrm rot="0" flipH="0" flipV="0">
            <a:off x="571500" y="6429375"/>
            <a:ext cx="114300" cy="114300"/>
          </a:xfrm>
          <a:prstGeom prst="rect">
            <a:avLst/>
          </a:prstGeom>
          <a:solidFill>
            <a:srgbClr val="1D4E79"/>
          </a:solidFill>
          <a:ln/>
        </p:spPr>
        <p:txBody>
          <a:bodyPr/>
          <a:p>
            <a:pPr/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62000" y="6400800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D6D7E"/>
                </a:solidFill>
                <a:latin typeface="Microsoft YaHei"/>
                <a:ea typeface="Microsoft YaHei"/>
              </a:rPr>
              <a:t>水沙三相算法</a:t>
            </a: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 xml:space="preserve"> · HelloWorld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2A43"/>
              </a:gs>
              <a:gs pos="100000">
                <a:srgbClr val="1D4E79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71500" y="4762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三相守恒：方案的地基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219200" y="2447925"/>
            <a:ext cx="3086100" cy="1514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900" b="1">
                <a:solidFill>
                  <a:srgbClr val="F39C12"/>
                </a:solidFill>
                <a:latin typeface="Microsoft YaHei"/>
                <a:ea typeface="Microsoft YaHei"/>
              </a:rPr>
              <a:t>0.1%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371600" y="4095750"/>
            <a:ext cx="2781300" cy="8858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800">
                <a:solidFill>
                  <a:srgbClr val="C8D8E6"/>
                </a:solidFill>
                <a:latin typeface="Microsoft YaHei"/>
                <a:ea typeface="Microsoft YaHei"/>
              </a:rPr>
              <a:t>全程允许的重沙</a:t>
            </a:r>
            <a:r>
              <a:rPr lang="en-US" sz="1800">
                <a:solidFill>
                  <a:srgbClr val="C8D8E6"/>
                </a:solidFill>
                <a:latin typeface="Microsoft YaHei"/>
                <a:ea typeface="Microsoft YaHei"/>
              </a:rPr>
              <a:t>/</a:t>
            </a:r>
            <a:r>
              <a:rPr lang="zh-CN" sz="1800">
                <a:solidFill>
                  <a:srgbClr val="C8D8E6"/>
                </a:solidFill>
                <a:latin typeface="Microsoft YaHei"/>
                <a:ea typeface="Microsoft YaHei"/>
              </a:rPr>
              <a:t>轻沙</a:t>
            </a:r>
            <a:r>
              <a:rPr lang="en-US" sz="1800">
                <a:solidFill>
                  <a:srgbClr val="C8D8E6"/>
                </a:solidFill>
                <a:latin typeface="Microsoft YaHei"/>
                <a:ea typeface="Microsoft YaHei"/>
              </a:rPr>
              <a:t>/</a:t>
            </a:r>
            <a:r>
              <a:rPr lang="zh-CN" sz="1800">
                <a:solidFill>
                  <a:srgbClr val="C8D8E6"/>
                </a:solidFill>
                <a:latin typeface="Microsoft YaHei"/>
                <a:ea typeface="Microsoft YaHei"/>
              </a:rPr>
              <a:t>水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1800">
                <a:solidFill>
                  <a:srgbClr val="C8D8E6"/>
                </a:solidFill>
                <a:latin typeface="Microsoft YaHei"/>
                <a:ea typeface="Microsoft YaHei"/>
              </a:rPr>
              <a:t>最大漂移量——硬性验收线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5334000" y="1428750"/>
            <a:ext cx="62865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2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524500" y="1619250"/>
            <a:ext cx="6096000" cy="4191000"/>
          </a:xfrm>
          <a:prstGeom prst="rect">
            <a:avLst/>
          </a:prstGeom>
          <a:ln/>
        </p:spPr>
      </p:pic>
      <p:sp>
        <p:nvSpPr>
          <p:cNvPr id="216" name=""/>
          <p:cNvSpPr/>
          <p:nvPr/>
        </p:nvSpPr>
        <p:spPr>
          <a:xfrm rot="0" flipH="0" flipV="0">
            <a:off x="571500" y="6429375"/>
            <a:ext cx="114300" cy="1143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p>
            <a:pPr/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62000" y="6400800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D6D7E"/>
                </a:solidFill>
                <a:latin typeface="Microsoft YaHei"/>
                <a:ea typeface="Microsoft YaHei"/>
              </a:rPr>
              <a:t>水沙三相算法</a:t>
            </a: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 xml:space="preserve"> · HelloWorld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2A43"/>
              </a:gs>
              <a:gs pos="100000">
                <a:srgbClr val="1D4E79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pic>
        <p:nvPicPr>
          <p:cNvPr id="221" name="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391150" y="1552575"/>
            <a:ext cx="1419225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F39C12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3962400" y="3190875"/>
            <a:ext cx="42672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四轮迭代修了什么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5667375" y="4105275"/>
            <a:ext cx="857250" cy="57150"/>
          </a:xfrm>
          <a:prstGeom prst="roundRect">
            <a:avLst>
              <a:gd name="adj" fmla="val 50000"/>
            </a:avLst>
          </a:prstGeom>
          <a:solidFill>
            <a:srgbClr val="7FB3D5"/>
          </a:solidFill>
          <a:ln/>
        </p:spPr>
        <p:txBody>
          <a:bodyPr/>
          <a:p>
            <a:pPr/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4038600" y="4429125"/>
            <a:ext cx="4114800" cy="8858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en-US" sz="1800">
                <a:solidFill>
                  <a:srgbClr val="C8D8E6"/>
                </a:solidFill>
                <a:latin typeface="Microsoft YaHei"/>
                <a:ea typeface="Microsoft YaHei"/>
              </a:rPr>
              <a:t>v1 → v2 → v2.2 → v2.3 / v2.4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1800">
                <a:solidFill>
                  <a:srgbClr val="C8D8E6"/>
                </a:solidFill>
                <a:latin typeface="Microsoft YaHei"/>
                <a:ea typeface="Microsoft YaHei"/>
              </a:rPr>
              <a:t>每一轮只修一个根因，不放宽任何验收线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571500" y="6534150"/>
            <a:ext cx="114300" cy="1143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p>
            <a:pPr/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762000" y="6505575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D6D7E"/>
                </a:solidFill>
                <a:latin typeface="Microsoft YaHei"/>
                <a:ea typeface="Microsoft YaHei"/>
              </a:rPr>
              <a:t>水沙三相算法</a:t>
            </a: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 xml:space="preserve"> · HelloWorld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11633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>07 / 14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71500" y="4762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2A43"/>
                </a:solidFill>
                <a:latin typeface="Microsoft YaHei"/>
                <a:ea typeface="Microsoft YaHei"/>
              </a:rPr>
              <a:t xml:space="preserve">v1 </a:t>
            </a:r>
            <a:r>
              <a:rPr lang="zh-CN" sz="2550" b="1">
                <a:solidFill>
                  <a:srgbClr val="0F2A43"/>
                </a:solidFill>
                <a:latin typeface="Microsoft YaHei"/>
                <a:ea typeface="Microsoft YaHei"/>
              </a:rPr>
              <a:t>的致命伤：一步「交换」毁掉守恒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571500" y="1143000"/>
            <a:ext cx="6286500" cy="51435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2A43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2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" y="1714500"/>
            <a:ext cx="5905500" cy="4000500"/>
          </a:xfrm>
          <a:prstGeom prst="rect">
            <a:avLst/>
          </a:prstGeom>
          <a:ln/>
        </p:spPr>
      </p:pic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7162800" y="1771650"/>
            <a:ext cx="4457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D4E79"/>
                </a:solidFill>
                <a:latin typeface="Microsoft YaHei"/>
                <a:ea typeface="Microsoft YaHei"/>
              </a:rPr>
              <a:t>为什么会被发现？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7162800" y="2181225"/>
            <a:ext cx="4457700" cy="942975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2A43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2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15200" y="2333625"/>
            <a:ext cx="247650" cy="247650"/>
          </a:xfrm>
          <a:prstGeom prst="rect">
            <a:avLst/>
          </a:prstGeom>
          <a:ln/>
        </p:spPr>
      </p:pic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7677150" y="2333625"/>
            <a:ext cx="37909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2C3E50"/>
                </a:solidFill>
                <a:latin typeface="Microsoft YaHei"/>
                <a:ea typeface="Microsoft YaHei"/>
              </a:rPr>
              <a:t>「看起来像位置交换」的公式，实际执行的是「物质转换」——两相混写是最隐蔽的坑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7162800" y="3276600"/>
            <a:ext cx="4457700" cy="942975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2A43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2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15200" y="3429000"/>
            <a:ext cx="247650" cy="247650"/>
          </a:xfrm>
          <a:prstGeom prst="rect">
            <a:avLst/>
          </a:prstGeom>
          <a:ln/>
        </p:spPr>
      </p:pic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677150" y="3429000"/>
            <a:ext cx="37909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2C3E50"/>
                </a:solidFill>
                <a:latin typeface="Microsoft YaHei"/>
                <a:ea typeface="Microsoft YaHei"/>
              </a:rPr>
              <a:t>守恒审计不能只盯总量：</a:t>
            </a:r>
            <a:r>
              <a:rPr lang="en-US" sz="1350">
                <a:solidFill>
                  <a:srgbClr val="2C3E50"/>
                </a:solidFill>
                <a:latin typeface="Microsoft YaHei"/>
                <a:ea typeface="Microsoft YaHei"/>
              </a:rPr>
              <a:t xml:space="preserve">VH </a:t>
            </a:r>
            <a:r>
              <a:rPr lang="zh-CN" sz="1350">
                <a:solidFill>
                  <a:srgbClr val="2C3E50"/>
                </a:solidFill>
                <a:latin typeface="Microsoft YaHei"/>
                <a:ea typeface="Microsoft YaHei"/>
              </a:rPr>
              <a:t>和</a:t>
            </a:r>
            <a:r>
              <a:rPr lang="en-US" sz="1350">
                <a:solidFill>
                  <a:srgbClr val="2C3E50"/>
                </a:solidFill>
                <a:latin typeface="Microsoft YaHei"/>
                <a:ea typeface="Microsoft YaHei"/>
              </a:rPr>
              <a:t xml:space="preserve"> VL </a:t>
            </a:r>
            <a:r>
              <a:rPr lang="zh-CN" sz="1350">
                <a:solidFill>
                  <a:srgbClr val="2C3E50"/>
                </a:solidFill>
                <a:latin typeface="Microsoft YaHei"/>
                <a:ea typeface="Microsoft YaHei"/>
              </a:rPr>
              <a:t>各自都是不变量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7162800" y="4371975"/>
            <a:ext cx="4457700" cy="942975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2A43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2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15200" y="4524375"/>
            <a:ext cx="247650" cy="247650"/>
          </a:xfrm>
          <a:prstGeom prst="rect">
            <a:avLst/>
          </a:prstGeom>
          <a:ln/>
        </p:spPr>
      </p:pic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677150" y="4524375"/>
            <a:ext cx="37909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2C3E50"/>
                </a:solidFill>
                <a:latin typeface="Microsoft YaHei"/>
                <a:ea typeface="Microsoft YaHei"/>
              </a:rPr>
              <a:t>每个动力学公式都要单独做一次「进出相抵」证明，不能靠声明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7162800" y="5467350"/>
            <a:ext cx="445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D6D7E"/>
                </a:solidFill>
                <a:latin typeface="Microsoft YaHei"/>
                <a:ea typeface="Microsoft YaHei"/>
              </a:rPr>
              <a:t>发现者：架构评审。</a:t>
            </a:r>
            <a:r>
              <a:rPr lang="en-US" sz="1200">
                <a:solidFill>
                  <a:srgbClr val="5D6D7E"/>
                </a:solidFill>
                <a:latin typeface="Microsoft YaHei"/>
                <a:ea typeface="Microsoft YaHei"/>
              </a:rPr>
              <a:t xml:space="preserve">v1 </a:t>
            </a:r>
            <a:r>
              <a:rPr lang="zh-CN" sz="1200">
                <a:solidFill>
                  <a:srgbClr val="5D6D7E"/>
                </a:solidFill>
                <a:latin typeface="Microsoft YaHei"/>
                <a:ea typeface="Microsoft YaHei"/>
              </a:rPr>
              <a:t>被标记为阻塞项，禁止进入实现。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571500" y="6429375"/>
            <a:ext cx="114300" cy="114300"/>
          </a:xfrm>
          <a:prstGeom prst="rect">
            <a:avLst/>
          </a:prstGeom>
          <a:solidFill>
            <a:srgbClr val="1D4E79"/>
          </a:solidFill>
          <a:ln/>
        </p:spPr>
        <p:txBody>
          <a:bodyPr/>
          <a:p>
            <a:pPr/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62000" y="6400800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D6D7E"/>
                </a:solidFill>
                <a:latin typeface="Microsoft YaHei"/>
                <a:ea typeface="Microsoft YaHei"/>
              </a:rPr>
              <a:t>水沙三相算法</a:t>
            </a: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 xml:space="preserve"> · HelloWorld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571500" y="4762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2A43"/>
                </a:solidFill>
                <a:latin typeface="Microsoft YaHei"/>
                <a:ea typeface="Microsoft YaHei"/>
              </a:rPr>
              <a:t>v2</a:t>
            </a:r>
            <a:r>
              <a:rPr lang="zh-CN" sz="2550" b="1">
                <a:solidFill>
                  <a:srgbClr val="0F2A43"/>
                </a:solidFill>
                <a:latin typeface="Microsoft YaHei"/>
                <a:ea typeface="Microsoft YaHei"/>
              </a:rPr>
              <a:t>：账本改造——等量对向交换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571500" y="1143000"/>
            <a:ext cx="2476500" cy="2190750"/>
          </a:xfrm>
          <a:prstGeom prst="roundRect">
            <a:avLst>
              <a:gd name="adj" fmla="val 6087"/>
            </a:avLst>
          </a:prstGeom>
          <a:solidFill>
            <a:srgbClr val="F39C12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62000" y="1581150"/>
            <a:ext cx="209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B06A00"/>
                </a:solidFill>
                <a:latin typeface="Microsoft YaHei"/>
                <a:ea typeface="Microsoft YaHei"/>
              </a:rPr>
              <a:t>改造前（</a:t>
            </a:r>
            <a:r>
              <a:rPr lang="en-US" sz="1500" b="1">
                <a:solidFill>
                  <a:srgbClr val="B06A00"/>
                </a:solidFill>
                <a:latin typeface="Microsoft YaHei"/>
                <a:ea typeface="Microsoft YaHei"/>
              </a:rPr>
              <a:t>v1</a:t>
            </a:r>
            <a:r>
              <a:rPr lang="zh-CN" sz="1500" b="1">
                <a:solidFill>
                  <a:srgbClr val="B06A0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62000" y="1905000"/>
            <a:ext cx="20955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2C3E50"/>
                </a:solidFill>
                <a:latin typeface="Microsoft YaHei"/>
                <a:ea typeface="Microsoft YaHei"/>
              </a:rPr>
              <a:t>只有两个总厚度：</a:t>
            </a:r>
            <a:r>
              <a:rPr lang="en-US" sz="1350">
                <a:solidFill>
                  <a:srgbClr val="2C3E50"/>
                </a:solidFill>
                <a:latin typeface="Microsoft YaHei"/>
                <a:ea typeface="Microsoft YaHei"/>
              </a:rPr>
              <a:t>hs</a:t>
            </a:r>
            <a:r>
              <a:rPr lang="zh-CN" sz="1350">
                <a:solidFill>
                  <a:srgbClr val="2C3E50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2C3E50"/>
                </a:solidFill>
                <a:latin typeface="Microsoft YaHei"/>
                <a:ea typeface="Microsoft YaHei"/>
              </a:rPr>
              <a:t>hl</a:t>
            </a:r>
            <a:r>
              <a:rPr lang="zh-CN" sz="1350">
                <a:solidFill>
                  <a:srgbClr val="2C3E50"/>
                </a:solidFill>
                <a:latin typeface="Microsoft YaHei"/>
                <a:ea typeface="Microsoft YaHei"/>
              </a:rPr>
              <a:t>。看不出沙堆内部「谁压着谁」。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3276600" y="1143000"/>
            <a:ext cx="834390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2A43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2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429000" y="1381125"/>
            <a:ext cx="7620000" cy="1714500"/>
          </a:xfrm>
          <a:prstGeom prst="rect">
            <a:avLst/>
          </a:prstGeom>
          <a:ln/>
        </p:spPr>
      </p:pic>
      <p:sp>
        <p:nvSpPr>
          <p:cNvPr id="256" name=""/>
          <p:cNvSpPr/>
          <p:nvPr/>
        </p:nvSpPr>
        <p:spPr>
          <a:xfrm rot="0" flipH="0" flipV="0">
            <a:off x="571500" y="3524250"/>
            <a:ext cx="2476500" cy="2762250"/>
          </a:xfrm>
          <a:prstGeom prst="roundRect">
            <a:avLst>
              <a:gd name="adj" fmla="val 5385"/>
            </a:avLst>
          </a:prstGeom>
          <a:solidFill>
            <a:srgbClr val="1D4E7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62000" y="4086225"/>
            <a:ext cx="209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D4E79"/>
                </a:solidFill>
                <a:latin typeface="Microsoft YaHei"/>
                <a:ea typeface="Microsoft YaHei"/>
              </a:rPr>
              <a:t>改造后（</a:t>
            </a:r>
            <a:r>
              <a:rPr lang="en-US" sz="1500" b="1">
                <a:solidFill>
                  <a:srgbClr val="1D4E79"/>
                </a:solidFill>
                <a:latin typeface="Microsoft YaHei"/>
                <a:ea typeface="Microsoft YaHei"/>
              </a:rPr>
              <a:t>v2</a:t>
            </a:r>
            <a:r>
              <a:rPr lang="zh-CN" sz="1500" b="1">
                <a:solidFill>
                  <a:srgbClr val="1D4E79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62000" y="4410075"/>
            <a:ext cx="2095500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2C3E50"/>
                </a:solidFill>
                <a:latin typeface="Microsoft YaHei"/>
                <a:ea typeface="Microsoft YaHei"/>
              </a:rPr>
              <a:t>沙堆拆成三层账本：有序重层</a:t>
            </a:r>
            <a:r>
              <a:rPr lang="en-US" sz="1350">
                <a:solidFill>
                  <a:srgbClr val="2C3E50"/>
                </a:solidFill>
                <a:latin typeface="Microsoft YaHei"/>
                <a:ea typeface="Microsoft YaHei"/>
              </a:rPr>
              <a:t xml:space="preserve"> bh</a:t>
            </a:r>
            <a:r>
              <a:rPr lang="zh-CN" sz="1350">
                <a:solidFill>
                  <a:srgbClr val="2C3E50"/>
                </a:solidFill>
                <a:latin typeface="Microsoft YaHei"/>
                <a:ea typeface="Microsoft YaHei"/>
              </a:rPr>
              <a:t>、有序轻层</a:t>
            </a:r>
            <a:r>
              <a:rPr lang="en-US" sz="1350">
                <a:solidFill>
                  <a:srgbClr val="2C3E50"/>
                </a:solidFill>
                <a:latin typeface="Microsoft YaHei"/>
                <a:ea typeface="Microsoft YaHei"/>
              </a:rPr>
              <a:t xml:space="preserve"> bl</a:t>
            </a:r>
            <a:r>
              <a:rPr lang="zh-CN" sz="1350">
                <a:solidFill>
                  <a:srgbClr val="2C3E50"/>
                </a:solidFill>
                <a:latin typeface="Microsoft YaHei"/>
                <a:ea typeface="Microsoft YaHei"/>
              </a:rPr>
              <a:t>、混合表层</a:t>
            </a:r>
            <a:r>
              <a:rPr lang="en-US" sz="1350">
                <a:solidFill>
                  <a:srgbClr val="2C3E50"/>
                </a:solidFill>
                <a:latin typeface="Microsoft YaHei"/>
                <a:ea typeface="Microsoft YaHei"/>
              </a:rPr>
              <a:t xml:space="preserve"> mh/ml</a:t>
            </a:r>
            <a:r>
              <a:rPr lang="zh-CN" sz="1350">
                <a:solidFill>
                  <a:srgbClr val="2C3E50"/>
                </a:solidFill>
                <a:latin typeface="Microsoft YaHei"/>
                <a:ea typeface="Microsoft YaHei"/>
              </a:rPr>
              <a:t>。每层各记各的。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3276600" y="3524250"/>
            <a:ext cx="8343900" cy="276225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2A43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2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429000" y="3905250"/>
            <a:ext cx="7620000" cy="2000250"/>
          </a:xfrm>
          <a:prstGeom prst="rect">
            <a:avLst/>
          </a:prstGeom>
          <a:ln/>
        </p:spPr>
      </p:pic>
      <p:sp>
        <p:nvSpPr>
          <p:cNvPr id="261" name=""/>
          <p:cNvSpPr/>
          <p:nvPr/>
        </p:nvSpPr>
        <p:spPr>
          <a:xfrm rot="0" flipH="0" flipV="0">
            <a:off x="571500" y="6429375"/>
            <a:ext cx="114300" cy="114300"/>
          </a:xfrm>
          <a:prstGeom prst="rect">
            <a:avLst/>
          </a:prstGeom>
          <a:solidFill>
            <a:srgbClr val="1D4E79"/>
          </a:solidFill>
          <a:ln/>
        </p:spPr>
        <p:txBody>
          <a:bodyPr/>
          <a:p>
            <a:pPr/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762000" y="6400800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D6D7E"/>
                </a:solidFill>
                <a:latin typeface="Microsoft YaHei"/>
                <a:ea typeface="Microsoft YaHei"/>
              </a:rPr>
              <a:t>水沙三相算法</a:t>
            </a: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 xml:space="preserve"> · HelloWorld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>
            <a:pPr/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71500" y="4762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2A43"/>
                </a:solidFill>
                <a:latin typeface="Microsoft YaHei"/>
                <a:ea typeface="Microsoft YaHei"/>
              </a:rPr>
              <a:t>v2.2</a:t>
            </a:r>
            <a:r>
              <a:rPr lang="zh-CN" sz="2550" b="1">
                <a:solidFill>
                  <a:srgbClr val="0F2A43"/>
                </a:solidFill>
                <a:latin typeface="Microsoft YaHei"/>
                <a:ea typeface="Microsoft YaHei"/>
              </a:rPr>
              <a:t>：把「每帧预算」改成「速率」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71500" y="1143000"/>
            <a:ext cx="5715000" cy="51435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2A43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graphicFrame>
        <p:nvGraphicFramePr>
          <p:cNvPr id="17" name="17"/>
          <p:cNvGraphicFramePr/>
          <p:nvPr/>
        </p:nvGraphicFramePr>
        <p:xfrm rot="0" flipH="0" flipV="0">
          <a:off x="762000" y="1333500"/>
          <a:ext cx="5334000" cy="38100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629400" y="2038350"/>
            <a:ext cx="4991100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650" b="1">
                <a:solidFill>
                  <a:srgbClr val="B03A2E"/>
                </a:solidFill>
                <a:latin typeface="Microsoft YaHei"/>
                <a:ea typeface="Microsoft YaHei"/>
              </a:rPr>
              <a:t>改前的问题：</a:t>
            </a:r>
            <a:r>
              <a:rPr lang="zh-CN" sz="1650">
                <a:solidFill>
                  <a:srgbClr val="2C3E50"/>
                </a:solidFill>
                <a:latin typeface="Microsoft YaHei"/>
                <a:ea typeface="Microsoft YaHei"/>
              </a:rPr>
              <a:t>预算按「每帧」发，</a:t>
            </a:r>
            <a:r>
              <a:rPr lang="en-US" sz="1650">
                <a:solidFill>
                  <a:srgbClr val="2C3E50"/>
                </a:solidFill>
                <a:latin typeface="Microsoft YaHei"/>
                <a:ea typeface="Microsoft YaHei"/>
              </a:rPr>
              <a:t xml:space="preserve">60Hz </a:t>
            </a:r>
            <a:r>
              <a:rPr lang="zh-CN" sz="1650">
                <a:solidFill>
                  <a:srgbClr val="2C3E50"/>
                </a:solidFill>
                <a:latin typeface="Microsoft YaHei"/>
                <a:ea typeface="Microsoft YaHei"/>
              </a:rPr>
              <a:t>手机一秒发</a:t>
            </a:r>
            <a:r>
              <a:rPr lang="en-US" sz="1650">
                <a:solidFill>
                  <a:srgbClr val="2C3E50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650">
                <a:solidFill>
                  <a:srgbClr val="2C3E50"/>
                </a:solidFill>
                <a:latin typeface="Microsoft YaHei"/>
                <a:ea typeface="Microsoft YaHei"/>
              </a:rPr>
              <a:t>份、</a:t>
            </a:r>
            <a:r>
              <a:rPr lang="en-US" sz="1650">
                <a:solidFill>
                  <a:srgbClr val="2C3E50"/>
                </a:solidFill>
                <a:latin typeface="Microsoft YaHei"/>
                <a:ea typeface="Microsoft YaHei"/>
              </a:rPr>
              <a:t xml:space="preserve">120Hz </a:t>
            </a:r>
            <a:r>
              <a:rPr lang="zh-CN" sz="1650">
                <a:solidFill>
                  <a:srgbClr val="2C3E50"/>
                </a:solidFill>
                <a:latin typeface="Microsoft YaHei"/>
                <a:ea typeface="Microsoft YaHei"/>
              </a:rPr>
              <a:t>发</a:t>
            </a:r>
            <a:r>
              <a:rPr lang="en-US" sz="1650">
                <a:solidFill>
                  <a:srgbClr val="2C3E50"/>
                </a:solidFill>
                <a:latin typeface="Microsoft YaHei"/>
                <a:ea typeface="Microsoft YaHei"/>
              </a:rPr>
              <a:t xml:space="preserve"> 120 </a:t>
            </a:r>
            <a:r>
              <a:rPr lang="zh-CN" sz="1650">
                <a:solidFill>
                  <a:srgbClr val="2C3E50"/>
                </a:solidFill>
                <a:latin typeface="Microsoft YaHei"/>
                <a:ea typeface="Microsoft YaHei"/>
              </a:rPr>
              <a:t>份——同一部动画在高端机上慢一倍，物理随刷新率漂移。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629400" y="3457575"/>
            <a:ext cx="4991100" cy="838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650" b="1">
                <a:solidFill>
                  <a:srgbClr val="1D4E79"/>
                </a:solidFill>
                <a:latin typeface="Microsoft YaHei"/>
                <a:ea typeface="Microsoft YaHei"/>
              </a:rPr>
              <a:t>改后：</a:t>
            </a:r>
            <a:r>
              <a:rPr lang="zh-CN" sz="1650">
                <a:solidFill>
                  <a:srgbClr val="2C3E50"/>
                </a:solidFill>
                <a:latin typeface="Microsoft YaHei"/>
                <a:ea typeface="Microsoft YaHei"/>
              </a:rPr>
              <a:t>换成速率上限「每秒最多</a:t>
            </a:r>
            <a:r>
              <a:rPr lang="en-US" sz="1650">
                <a:solidFill>
                  <a:srgbClr val="2C3E50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1650">
                <a:solidFill>
                  <a:srgbClr val="2C3E50"/>
                </a:solidFill>
                <a:latin typeface="Microsoft YaHei"/>
                <a:ea typeface="Microsoft YaHei"/>
              </a:rPr>
              <a:t>列」。每个子步用</a:t>
            </a:r>
            <a:r>
              <a:rPr lang="en-US" sz="1650">
                <a:solidFill>
                  <a:srgbClr val="2C3E5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650">
                <a:solidFill>
                  <a:srgbClr val="1D4E79"/>
                </a:solidFill>
                <a:latin typeface="Microsoft YaHei"/>
                <a:ea typeface="Microsoft YaHei"/>
              </a:rPr>
              <a:t xml:space="preserve">28 × </a:t>
            </a:r>
            <a:r>
              <a:rPr lang="zh-CN" sz="1650">
                <a:solidFill>
                  <a:srgbClr val="1D4E79"/>
                </a:solidFill>
                <a:latin typeface="Microsoft YaHei"/>
                <a:ea typeface="Microsoft YaHei"/>
              </a:rPr>
              <a:t>子步时长</a:t>
            </a:r>
            <a:r>
              <a:rPr lang="en-US" sz="1650">
                <a:solidFill>
                  <a:srgbClr val="2C3E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650">
                <a:solidFill>
                  <a:srgbClr val="2C3E50"/>
                </a:solidFill>
                <a:latin typeface="Microsoft YaHei"/>
                <a:ea typeface="Microsoft YaHei"/>
              </a:rPr>
              <a:t>算预算，物理走多快只跟时间有关。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629400" y="4467225"/>
            <a:ext cx="4991100" cy="933450"/>
          </a:xfrm>
          <a:prstGeom prst="roundRect">
            <a:avLst>
              <a:gd name="adj" fmla="val 12245"/>
            </a:avLst>
          </a:prstGeom>
          <a:solidFill>
            <a:srgbClr val="F39C12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800850" y="4600575"/>
            <a:ext cx="46482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B06A00"/>
                </a:solidFill>
                <a:latin typeface="Microsoft YaHei"/>
                <a:ea typeface="Microsoft YaHei"/>
              </a:rPr>
              <a:t>副产物：</a:t>
            </a:r>
            <a:r>
              <a:rPr lang="zh-CN" sz="1350">
                <a:solidFill>
                  <a:srgbClr val="B06A00"/>
                </a:solidFill>
                <a:latin typeface="Microsoft YaHei"/>
                <a:ea typeface="Microsoft YaHei"/>
              </a:rPr>
              <a:t>顺带修复了「浅水区一帧清空悬浮沙」的瞬移隐患；摇晃峰值目标带随之修订为</a:t>
            </a:r>
            <a:r>
              <a:rPr lang="en-US" sz="1350">
                <a:solidFill>
                  <a:srgbClr val="B06A00"/>
                </a:solidFill>
                <a:latin typeface="Microsoft YaHei"/>
                <a:ea typeface="Microsoft YaHei"/>
              </a:rPr>
              <a:t xml:space="preserve"> 65%~80%</a:t>
            </a:r>
            <a:r>
              <a:rPr lang="zh-CN" sz="1350">
                <a:solidFill>
                  <a:srgbClr val="B06A0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571500" y="6429375"/>
            <a:ext cx="114300" cy="114300"/>
          </a:xfrm>
          <a:prstGeom prst="rect">
            <a:avLst/>
          </a:prstGeom>
          <a:solidFill>
            <a:srgbClr val="1D4E79"/>
          </a:solidFill>
          <a:ln/>
        </p:spPr>
        <p:txBody>
          <a:bodyPr/>
          <a:p>
            <a:pPr/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762000" y="6400800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D6D7E"/>
                </a:solidFill>
                <a:latin typeface="Microsoft YaHei"/>
                <a:ea typeface="Microsoft YaHei"/>
              </a:rPr>
              <a:t>水沙三相算法</a:t>
            </a: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 xml:space="preserve"> · HelloWorld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2A43"/>
              </a:gs>
              <a:gs pos="100000">
                <a:srgbClr val="1D4E79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pic>
        <p:nvPicPr>
          <p:cNvPr id="27" name=""/>
          <p:cNvPicPr>
            <a:picLocks noChangeAspect="1"/>
          </p:cNvPicPr>
          <p:nvPr/>
        </p:nvPicPr>
        <p:blipFill>
          <a:blip>
            <a:alphaModFix amt="1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391150" y="1552575"/>
            <a:ext cx="1419225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F39C12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495800" y="3190875"/>
            <a:ext cx="32004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数字怎么验证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5667375" y="4105275"/>
            <a:ext cx="857250" cy="57150"/>
          </a:xfrm>
          <a:prstGeom prst="roundRect">
            <a:avLst>
              <a:gd name="adj" fmla="val 50000"/>
            </a:avLst>
          </a:prstGeom>
          <a:solidFill>
            <a:srgbClr val="7FB3D5"/>
          </a:solidFill>
          <a:ln/>
        </p:spPr>
        <p:txBody>
          <a:bodyPr/>
          <a:p>
            <a:pPr/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029075" y="4429125"/>
            <a:ext cx="4133850" cy="8858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800">
                <a:solidFill>
                  <a:srgbClr val="C8D8E6"/>
                </a:solidFill>
                <a:latin typeface="Microsoft YaHei"/>
                <a:ea typeface="Microsoft YaHei"/>
              </a:rPr>
              <a:t>所有关键数字都能手算复核——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1800">
                <a:solidFill>
                  <a:srgbClr val="C8D8E6"/>
                </a:solidFill>
                <a:latin typeface="Microsoft YaHei"/>
                <a:ea typeface="Microsoft YaHei"/>
              </a:rPr>
              <a:t>「</a:t>
            </a:r>
            <a:r>
              <a:rPr lang="en-US" sz="1800">
                <a:solidFill>
                  <a:srgbClr val="C8D8E6"/>
                </a:solidFill>
                <a:latin typeface="Microsoft YaHei"/>
                <a:ea typeface="Microsoft YaHei"/>
              </a:rPr>
              <a:t>74%</a:t>
            </a:r>
            <a:r>
              <a:rPr lang="zh-CN" sz="1800">
                <a:solidFill>
                  <a:srgbClr val="C8D8E6"/>
                </a:solidFill>
                <a:latin typeface="Microsoft YaHei"/>
                <a:ea typeface="Microsoft YaHei"/>
              </a:rPr>
              <a:t>」不是拟合出来的，是推导出来的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571500" y="6534150"/>
            <a:ext cx="114300" cy="1143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p>
            <a:pPr/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62000" y="6505575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D6D7E"/>
                </a:solidFill>
                <a:latin typeface="Microsoft YaHei"/>
                <a:ea typeface="Microsoft YaHei"/>
              </a:rPr>
              <a:t>水沙三相算法</a:t>
            </a: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 xml:space="preserve"> · HelloWorld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1633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>
            <a:pPr/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571500" y="4762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2A43"/>
                </a:solidFill>
                <a:latin typeface="Microsoft YaHei"/>
                <a:ea typeface="Microsoft YaHei"/>
              </a:rPr>
              <a:t>峰值</a:t>
            </a:r>
            <a:r>
              <a:rPr lang="en-US" sz="2550" b="1">
                <a:solidFill>
                  <a:srgbClr val="0F2A43"/>
                </a:solidFill>
                <a:latin typeface="Microsoft YaHei"/>
                <a:ea typeface="Microsoft YaHei"/>
              </a:rPr>
              <a:t xml:space="preserve"> 74% </a:t>
            </a:r>
            <a:r>
              <a:rPr lang="zh-CN" sz="2550" b="1">
                <a:solidFill>
                  <a:srgbClr val="0F2A43"/>
                </a:solidFill>
                <a:latin typeface="Microsoft YaHei"/>
                <a:ea typeface="Microsoft YaHei"/>
              </a:rPr>
              <a:t>是算出来的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571500" y="1143000"/>
            <a:ext cx="11049000" cy="257175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2A43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" y="1333500"/>
            <a:ext cx="10763250" cy="2190750"/>
          </a:xfrm>
          <a:prstGeom prst="rect">
            <a:avLst/>
          </a:prstGeom>
          <a:ln/>
        </p:spPr>
      </p:pic>
      <p:sp>
        <p:nvSpPr>
          <p:cNvPr id="40" name=""/>
          <p:cNvSpPr/>
          <p:nvPr/>
        </p:nvSpPr>
        <p:spPr>
          <a:xfrm rot="0" flipH="0" flipV="0">
            <a:off x="571500" y="3905250"/>
            <a:ext cx="3238500" cy="2486025"/>
          </a:xfrm>
          <a:prstGeom prst="roundRect">
            <a:avLst>
              <a:gd name="adj" fmla="val 6130"/>
            </a:avLst>
          </a:prstGeom>
          <a:solidFill>
            <a:srgbClr val="0F2A43"/>
          </a:solidFill>
          <a:ln/>
        </p:spPr>
        <p:txBody>
          <a:bodyPr/>
          <a:p>
            <a:pPr/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409700" y="4467225"/>
            <a:ext cx="1571625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39C12"/>
                </a:solidFill>
                <a:latin typeface="Microsoft YaHei"/>
                <a:ea typeface="Microsoft YaHei"/>
              </a:rPr>
              <a:t>74%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314450" y="5419725"/>
            <a:ext cx="1752600" cy="4191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350">
                <a:solidFill>
                  <a:srgbClr val="C8D8E6"/>
                </a:solidFill>
                <a:latin typeface="Microsoft YaHei"/>
                <a:ea typeface="Microsoft YaHei"/>
              </a:rPr>
              <a:t>摇晃时悬浮的沙占比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1350">
                <a:solidFill>
                  <a:srgbClr val="C8D8E6"/>
                </a:solidFill>
                <a:latin typeface="Microsoft YaHei"/>
                <a:ea typeface="Microsoft YaHei"/>
              </a:rPr>
              <a:t>（此前误估为</a:t>
            </a:r>
            <a:r>
              <a:rPr lang="en-US" sz="1350">
                <a:solidFill>
                  <a:srgbClr val="C8D8E6"/>
                </a:solidFill>
                <a:latin typeface="Microsoft YaHei"/>
                <a:ea typeface="Microsoft YaHei"/>
              </a:rPr>
              <a:t xml:space="preserve"> 63.6%</a:t>
            </a:r>
            <a:r>
              <a:rPr lang="zh-CN" sz="1350">
                <a:solidFill>
                  <a:srgbClr val="C8D8E6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4038600" y="3905250"/>
            <a:ext cx="7581900" cy="1352550"/>
          </a:xfrm>
          <a:prstGeom prst="roundRect">
            <a:avLst>
              <a:gd name="adj" fmla="val 8451"/>
            </a:avLst>
          </a:prstGeom>
          <a:solidFill>
            <a:srgbClr val="1D4E7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229100" y="4057650"/>
            <a:ext cx="7200900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1D4E79"/>
                </a:solidFill>
                <a:latin typeface="Microsoft YaHei"/>
                <a:ea typeface="Microsoft YaHei"/>
              </a:rPr>
              <a:t>为什么从</a:t>
            </a:r>
            <a:r>
              <a:rPr lang="en-US" sz="1425" b="1">
                <a:solidFill>
                  <a:srgbClr val="1D4E79"/>
                </a:solidFill>
                <a:latin typeface="Microsoft YaHei"/>
                <a:ea typeface="Microsoft YaHei"/>
              </a:rPr>
              <a:t xml:space="preserve"> 63.6% </a:t>
            </a:r>
            <a:r>
              <a:rPr lang="zh-CN" sz="1425" b="1">
                <a:solidFill>
                  <a:srgbClr val="1D4E79"/>
                </a:solidFill>
                <a:latin typeface="Microsoft YaHei"/>
                <a:ea typeface="Microsoft YaHei"/>
              </a:rPr>
              <a:t>修正到</a:t>
            </a:r>
            <a:r>
              <a:rPr lang="en-US" sz="1425" b="1">
                <a:solidFill>
                  <a:srgbClr val="1D4E79"/>
                </a:solidFill>
                <a:latin typeface="Microsoft YaHei"/>
                <a:ea typeface="Microsoft YaHei"/>
              </a:rPr>
              <a:t xml:space="preserve"> 74%</a:t>
            </a:r>
            <a:r>
              <a:rPr lang="zh-CN" sz="1425" b="1">
                <a:solidFill>
                  <a:srgbClr val="1D4E79"/>
                </a:solidFill>
                <a:latin typeface="Microsoft YaHei"/>
                <a:ea typeface="Microsoft YaHei"/>
              </a:rPr>
              <a:t>？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2C3E50"/>
                </a:solidFill>
                <a:latin typeface="Microsoft YaHei"/>
                <a:ea typeface="Microsoft YaHei"/>
              </a:rPr>
              <a:t>旧数字偷偷假设了「悬浮里轻重各半」；把模型参数代进去重算，轻沙其实占</a:t>
            </a:r>
            <a:r>
              <a:rPr lang="en-US" sz="1425">
                <a:solidFill>
                  <a:srgbClr val="2C3E50"/>
                </a:solidFill>
                <a:latin typeface="Microsoft YaHei"/>
                <a:ea typeface="Microsoft YaHei"/>
              </a:rPr>
              <a:t xml:space="preserve"> 65%——</a:t>
            </a:r>
            <a:r>
              <a:rPr lang="zh-CN" sz="1425">
                <a:solidFill>
                  <a:srgbClr val="2C3E50"/>
                </a:solidFill>
                <a:latin typeface="Microsoft YaHei"/>
                <a:ea typeface="Microsoft YaHei"/>
              </a:rPr>
              <a:t>悬浮更多、落得更慢。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4038600" y="5391150"/>
            <a:ext cx="7581900" cy="1000125"/>
          </a:xfrm>
          <a:prstGeom prst="roundRect">
            <a:avLst>
              <a:gd name="adj" fmla="val 11429"/>
            </a:avLst>
          </a:prstGeom>
          <a:solidFill>
            <a:srgbClr val="F39C12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229100" y="5543550"/>
            <a:ext cx="72009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B06A00"/>
                </a:solidFill>
                <a:latin typeface="Microsoft YaHei"/>
                <a:ea typeface="Microsoft YaHei"/>
              </a:rPr>
              <a:t>目标带同步修订为</a:t>
            </a:r>
            <a:r>
              <a:rPr lang="en-US" sz="1425" b="1">
                <a:solidFill>
                  <a:srgbClr val="B06A00"/>
                </a:solidFill>
                <a:latin typeface="Microsoft YaHei"/>
                <a:ea typeface="Microsoft YaHei"/>
              </a:rPr>
              <a:t xml:space="preserve"> 65%~80%</a:t>
            </a:r>
            <a:r>
              <a:rPr lang="zh-CN" sz="1425" b="1">
                <a:solidFill>
                  <a:srgbClr val="B06A00"/>
                </a:solidFill>
                <a:latin typeface="Microsoft YaHei"/>
                <a:ea typeface="Microsoft YaHei"/>
              </a:rPr>
              <a:t>：</a:t>
            </a:r>
            <a:r>
              <a:rPr lang="en-US" sz="1425">
                <a:solidFill>
                  <a:srgbClr val="B06A00"/>
                </a:solidFill>
                <a:latin typeface="Microsoft YaHei"/>
                <a:ea typeface="Microsoft YaHei"/>
              </a:rPr>
              <a:t xml:space="preserve">74% </a:t>
            </a:r>
            <a:r>
              <a:rPr lang="zh-CN" sz="1425">
                <a:solidFill>
                  <a:srgbClr val="B06A00"/>
                </a:solidFill>
                <a:latin typeface="Microsoft YaHei"/>
                <a:ea typeface="Microsoft YaHei"/>
              </a:rPr>
              <a:t>居中；</a:t>
            </a:r>
            <a:r>
              <a:rPr lang="en-US" sz="1425">
                <a:solidFill>
                  <a:srgbClr val="B06A00"/>
                </a:solidFill>
                <a:latin typeface="Microsoft YaHei"/>
                <a:ea typeface="Microsoft YaHei"/>
              </a:rPr>
              <a:t xml:space="preserve">vBar </a:t>
            </a:r>
            <a:r>
              <a:rPr lang="zh-CN" sz="1425">
                <a:solidFill>
                  <a:srgbClr val="B06A00"/>
                </a:solidFill>
                <a:latin typeface="Microsoft YaHei"/>
                <a:ea typeface="Microsoft YaHei"/>
              </a:rPr>
              <a:t>每降</a:t>
            </a:r>
            <a:r>
              <a:rPr lang="en-US" sz="1425">
                <a:solidFill>
                  <a:srgbClr val="B06A00"/>
                </a:solidFill>
                <a:latin typeface="Microsoft YaHei"/>
                <a:ea typeface="Microsoft YaHei"/>
              </a:rPr>
              <a:t xml:space="preserve"> 2</a:t>
            </a:r>
            <a:r>
              <a:rPr lang="zh-CN" sz="1425">
                <a:solidFill>
                  <a:srgbClr val="B06A00"/>
                </a:solidFill>
                <a:latin typeface="Microsoft YaHei"/>
                <a:ea typeface="Microsoft YaHei"/>
              </a:rPr>
              <a:t>，峰值涨约</a:t>
            </a:r>
            <a:r>
              <a:rPr lang="en-US" sz="1425">
                <a:solidFill>
                  <a:srgbClr val="B06A0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425">
                <a:solidFill>
                  <a:srgbClr val="B06A00"/>
                </a:solidFill>
                <a:latin typeface="Microsoft YaHei"/>
                <a:ea typeface="Microsoft YaHei"/>
              </a:rPr>
              <a:t>个点——</a:t>
            </a:r>
            <a:r>
              <a:rPr lang="en-US" sz="1425">
                <a:solidFill>
                  <a:srgbClr val="B06A00"/>
                </a:solidFill>
                <a:latin typeface="Microsoft YaHei"/>
                <a:ea typeface="Microsoft YaHei"/>
              </a:rPr>
              <a:t xml:space="preserve">44.6 </a:t>
            </a:r>
            <a:r>
              <a:rPr lang="zh-CN" sz="1425">
                <a:solidFill>
                  <a:srgbClr val="B06A00"/>
                </a:solidFill>
                <a:latin typeface="Microsoft YaHei"/>
                <a:ea typeface="Microsoft YaHei"/>
              </a:rPr>
              <a:t>就顶到上沿。实测出带即报警，不放宽阈值。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571500" y="6534150"/>
            <a:ext cx="114300" cy="1143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p>
            <a:pPr/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62000" y="6505575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D6D7E"/>
                </a:solidFill>
                <a:latin typeface="Microsoft YaHei"/>
                <a:ea typeface="Microsoft YaHei"/>
              </a:rPr>
              <a:t>水沙三相算法</a:t>
            </a: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 xml:space="preserve"> · HelloWorld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11633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0" name="" descr="&lt;Slide style={{ width: 1280, height: 720, background: 'linear-gradient(160deg, #0F2A43 0%, #1D4E79 100%)', padding: 0, position: 'relative' }}&gt;&#10;    &lt;svg width={1280} height={720} viewBox='0 0 1280 720' style={{ position: 'absolute', top: 0, left: 0, opacity: 0.10 }}&gt;&#10;        {[80, 160, 240, 320, 400, 480, 560, 640, 720, 800, 880, 960, 1040, 1120, 1200].map((x) =&gt; (&#10;            &lt;line key={'v'+x} x1={x} y1={0} x2={x} y2={720} stroke='#7FB3D5' strokeWidth={1} /&gt;&#10;        ))}&#10;    &lt;/svg&gt;&#10;    {/* 中央玻璃管剖面 */}&#10;    &lt;Box style={{ position: 'absolute', right: 100, top: 160, width: 360, height: 420 }}&gt;&#10;        &lt;svg width={360} height={420} viewBox='0 0 360 420'&gt;&#10;            &lt;rect x={20} y={10} width={320} height={400} rx={16} fill='rgba(127,179,213,0.10)' stroke='#7FB3D5' strokeWidth={3} /&gt;&#10;            &lt;rect x={24} y={130} width={312} height={276} rx={12} fill='rgba(127,179,213,0.25)' /&gt;&#10;            &lt;path d='M24 406 L24 350 L110 350 L180 300 L250 300 L336 340 L336 406 Z' fill='#C9A15C' opacity={0.9} /&gt;&#10;            &lt;path d='M24 406 L24 382 L130 382 L200 340 L280 340 L336 366 L336 406 Z' fill='#8A5A2B' /&gt;&#10;            &lt;circle cx={110} cy={220} r={5} fill='#F39C12' /&gt;&#10;            &lt;circle cx={200} cy={190} r={5} fill='#F39C12' /&gt;&#10;            &lt;circle cx={260} cy={230} r={5} fill='#E8E8E8' stroke='#95A5A6' /&gt;&#10;        &lt;/svg&gt;&#10;    &lt;/Box&gt;&#10;    {/* 左侧金句 */}&#10;    &lt;Box style={{ position: 'absolute', left: 90, top: 0, width: 620, height: 720, justifyContent: 'center', flexDirection: 'column', gap: 26 }}&gt;&#10;        &lt;Text style={{ fontSize: 42, fontWeight: 'bold', color: '#FFFFFF', lineHeight: 1.5 }}&gt;&#10;            列标量 × 守恒账本&lt;br /&gt;速率化 × 可复算&#10;        &lt;/Text&gt;&#10;        &lt;Box style={{ width: 80, height: 6, background: '#F39C12', borderRadius: 3 }} /&gt;&#10;        &lt;Text style={{ fontSize: 24, color: '#C8D8E6', lineHeight: 1.7 }}&gt;&#10;            四轮迭代没有推翻任何东西——&lt;br /&gt;&#10;            是同一套模型的四次校准。&lt;br /&gt;&#10;            &lt;span style={{ color: '#F39C12', fontWeight: 'bold' }}&gt;演进，不重写。&lt;/span&gt;&#10;        &lt;/Text&gt;&#10;        &lt;Text style={{ fontSize: 16, color: '#5D6D7E', marginTop: 10 }}&gt;方案 v2.4 · DRAFT → 待 developer 合入 v2.2 后实现 v2.4&lt;/Text&gt;&#10;    &lt;/Box&gt;&#10;    &lt;Box style={{ position: 'absolute', left: 60, bottom: 20, flexDirection: 'row', alignItems: 'center', gap: 8 }}&gt;&#10;        &lt;Box style={{ width: 12, height: 12, background: '#F39C12' }} /&gt;&#10;        &lt;Text style={{ fontSize: 14, color: '#5D6D7E' }}&gt;水沙三相算法 · HelloWorld&lt;/Text&gt;&#10;    &lt;/Box&gt;&#10;    &lt;Text style={{ position: 'absolute', right: 60, bottom: 20, fontSize: 14, color: '#5D6D7E' }}&gt;14 / 14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2A43"/>
              </a:gs>
              <a:gs pos="100000">
                <a:srgbClr val="1D4E79"/>
              </a:gs>
            </a:gsLst>
            <a:lin ang="4200000" scaled="1"/>
          </a:gradFill>
          <a:ln/>
        </p:spPr>
        <p:txBody>
          <a:bodyPr/>
          <a:p/>
        </p:txBody>
      </p:sp>
      <p:pic>
        <p:nvPicPr>
          <p:cNvPr id="52" name=""/>
          <p:cNvPicPr>
            <a:picLocks noChangeAspect="1"/>
          </p:cNvPicPr>
          <p:nvPr/>
        </p:nvPicPr>
        <p:blipFill>
          <a:blip>
            <a:alphaModFix amt="1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810500" y="1524000"/>
            <a:ext cx="3429000" cy="4000500"/>
          </a:xfrm>
          <a:prstGeom prst="rect">
            <a:avLst/>
          </a:prstGeom>
          <a:ln/>
        </p:spPr>
      </p:pic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57250" y="1466850"/>
            <a:ext cx="5905500" cy="14478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列标量</a:t>
            </a:r>
            <a:r>
              <a:rPr lang="en-US" sz="31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守恒账本</a:t>
            </a:r>
            <a:endParaRPr/>
          </a:p>
          <a:p>
            <a:pPr>
              <a:lnSpc>
                <a:spcPct val="150000"/>
              </a:lnSpc>
            </a:pP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速率化</a:t>
            </a:r>
            <a:r>
              <a:rPr lang="en-US" sz="31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可复算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857250" y="3162300"/>
            <a:ext cx="762000" cy="57150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57250" y="3467100"/>
            <a:ext cx="5905500" cy="1400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800">
                <a:solidFill>
                  <a:srgbClr val="C8D8E6"/>
                </a:solidFill>
                <a:latin typeface="Microsoft YaHei"/>
                <a:ea typeface="Microsoft YaHei"/>
              </a:rPr>
              <a:t>四轮迭代没有推翻任何东西——</a:t>
            </a:r>
            <a:endParaRPr/>
          </a:p>
          <a:p>
            <a:pPr>
              <a:lnSpc>
                <a:spcPct val="170000"/>
              </a:lnSpc>
            </a:pPr>
            <a:r>
              <a:rPr lang="zh-CN" sz="1800">
                <a:solidFill>
                  <a:srgbClr val="C8D8E6"/>
                </a:solidFill>
                <a:latin typeface="Microsoft YaHei"/>
                <a:ea typeface="Microsoft YaHei"/>
              </a:rPr>
              <a:t>是同一套模型的四次校准。</a:t>
            </a:r>
            <a:endParaRPr/>
          </a:p>
          <a:p>
            <a:pPr>
              <a:lnSpc>
                <a:spcPct val="170000"/>
              </a:lnSpc>
            </a:pPr>
            <a:r>
              <a:rPr lang="zh-CN" sz="1800" b="1">
                <a:solidFill>
                  <a:srgbClr val="F39C12"/>
                </a:solidFill>
                <a:latin typeface="Microsoft YaHei"/>
                <a:ea typeface="Microsoft YaHei"/>
              </a:rPr>
              <a:t>演进，不重写。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57250" y="5210175"/>
            <a:ext cx="590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D6D7E"/>
                </a:solidFill>
                <a:latin typeface="Microsoft YaHei"/>
                <a:ea typeface="Microsoft YaHei"/>
              </a:rPr>
              <a:t>方案</a:t>
            </a:r>
            <a:r>
              <a:rPr lang="en-US" sz="1200">
                <a:solidFill>
                  <a:srgbClr val="5D6D7E"/>
                </a:solidFill>
                <a:latin typeface="Microsoft YaHei"/>
                <a:ea typeface="Microsoft YaHei"/>
              </a:rPr>
              <a:t xml:space="preserve"> v2.4 · DRAFT → </a:t>
            </a:r>
            <a:r>
              <a:rPr lang="zh-CN" sz="1200">
                <a:solidFill>
                  <a:srgbClr val="5D6D7E"/>
                </a:solidFill>
                <a:latin typeface="Microsoft YaHei"/>
                <a:ea typeface="Microsoft YaHei"/>
              </a:rPr>
              <a:t>待</a:t>
            </a:r>
            <a:r>
              <a:rPr lang="en-US" sz="1200">
                <a:solidFill>
                  <a:srgbClr val="5D6D7E"/>
                </a:solidFill>
                <a:latin typeface="Microsoft YaHei"/>
                <a:ea typeface="Microsoft YaHei"/>
              </a:rPr>
              <a:t xml:space="preserve"> developer </a:t>
            </a:r>
            <a:r>
              <a:rPr lang="zh-CN" sz="1200">
                <a:solidFill>
                  <a:srgbClr val="5D6D7E"/>
                </a:solidFill>
                <a:latin typeface="Microsoft YaHei"/>
                <a:ea typeface="Microsoft YaHei"/>
              </a:rPr>
              <a:t>合入</a:t>
            </a:r>
            <a:r>
              <a:rPr lang="en-US" sz="1200">
                <a:solidFill>
                  <a:srgbClr val="5D6D7E"/>
                </a:solidFill>
                <a:latin typeface="Microsoft YaHei"/>
                <a:ea typeface="Microsoft YaHei"/>
              </a:rPr>
              <a:t xml:space="preserve"> v2.2 </a:t>
            </a:r>
            <a:r>
              <a:rPr lang="zh-CN" sz="1200">
                <a:solidFill>
                  <a:srgbClr val="5D6D7E"/>
                </a:solidFill>
                <a:latin typeface="Microsoft YaHei"/>
                <a:ea typeface="Microsoft YaHei"/>
              </a:rPr>
              <a:t>后实现</a:t>
            </a:r>
            <a:r>
              <a:rPr lang="en-US" sz="1200">
                <a:solidFill>
                  <a:srgbClr val="5D6D7E"/>
                </a:solidFill>
                <a:latin typeface="Microsoft YaHei"/>
                <a:ea typeface="Microsoft YaHei"/>
              </a:rPr>
              <a:t xml:space="preserve"> v2.4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571500" y="6534150"/>
            <a:ext cx="114300" cy="1143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62000" y="6505575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D6D7E"/>
                </a:solidFill>
                <a:latin typeface="Microsoft YaHei"/>
                <a:ea typeface="Microsoft YaHei"/>
              </a:rPr>
              <a:t>水沙三相算法</a:t>
            </a: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 xml:space="preserve"> · HelloWorld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11633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>14 / 14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61" name="" descr="&lt;Slide style={{ width: 1280, height: 720, background: '#F5F8FB', padding: '20px 60px', flexDirection: 'column' }}&gt;&#10;    &lt;Box style={{ height: 90, justifyContent: 'center' }}&gt;&#10;        &lt;Text style={{ fontSize: 32, fontWeight: 'bold', color: '#0F2A43' }}&gt;四步流水线 · 公式展开（一）水面平衡 与 沉降分选&lt;/Text&gt;&#10;    &lt;/Box&gt;&#10;    &lt;Box style={{ flex: 1, flexDirection: 'row', gap: 28 }}&gt;&#10;        {/* 左：水面平衡 */}&#10;        &lt;Box style={{ flex: 1, background: '#FFFFFF', borderRadius: 16, padding: 22, boxShadow: '0 4px 16px rgba(15,42,67,0.10)', flexDirection: 'column', gap: 12 }}&gt;&#10;            &lt;Box style={{ flexDirection: 'row', alignItems: 'center', gap: 10 }}&gt;&#10;                &lt;Box style={{ width: 36, height: 36, borderRadius: 9, background: '#1D4E79', justifyContent: 'center', alignItems: 'center' }}&gt;&#10;                    &lt;Text style={{ fontSize: 19, fontWeight: 'bold', color: '#FFFFFF' }}&gt;1&lt;/Text&gt;&#10;                &lt;/Box&gt;&#10;                &lt;Text style={{ fontSize: 22, fontWeight: 'bold', color: '#1D4E79' }}&gt;水面平衡（leveling）&lt;/Text&gt;&#10;            &lt;/Box&gt;&#10;            &lt;Text style={{ fontSize: 17, color: '#2C3E50', lineHeight: 1.5 }}&gt;目标：找一个水面高度 b，让水的总量刚好装下，且表面斜率等于重力倾角：&lt;/Text&gt;&#10;            &lt;Box style={{ background: '#0F2A43', borderRadius: 10, padding: '12px 16px' }}&gt;&#10;                &lt;Text style={{ fontSize: 16, color: '#F8D8A0', fontFamily: 'monospace', lineHeight: 1.7 }}&gt;&#10;                    targetTop[c] = b + tan(倾角)·(c − 中心)&lt;br /&gt;&#10;                    Σ (targetTop − sandTop) = 水的总量&#10;                &lt;/Text&gt;&#10;            &lt;/Box&gt;&#10;            &lt;Text style={{ fontSize: 17, color: '#2C3E50', lineHeight: 1.5 }}&gt;b 用二分法找。然后每列把「多出来的水」搬给「缺水的列」：&lt;/Text&gt;&#10;            &lt;Box style={{ background: '#0F2A43', borderRadius: 10, padding: '12px 16px' }}&gt;&#10;                &lt;Text style={{ fontSize: 16, color: '#F8D8A0', fontFamily: 'monospace', lineHeight: 1.7 }}&gt;&#10;                    err[c] = 当前水面 − 目标水面&lt;br /&gt;&#10;                    q = min(多出量, 缺口, 速率×dt)&lt;br /&gt;&#10;                    donor 水面 −q，receiver 水面 +q&#10;                &lt;/Text&gt;&#10;            &lt;/Box&gt;&#10;            &lt;Box style={{ background: 'rgba(243,156,18,0.12)', borderRadius: 8, padding: '10px 14px' }}&gt;&#10;                &lt;Text style={{ fontSize: 15, color: '#B06A00', lineHeight: 1.5 }}&gt;&lt;span style={{ fontWeight: 'bold' }}&gt;红线：&lt;/span&gt;禁止每列各自直接 lerp 到目标——那会凭空造水/灭水，必须「从多的搬给少的」。&lt;/Text&gt;&#10;            &lt;/Box&gt;&#10;        &lt;/Box&gt;&#10;        {/* 右：沉降分选 */}&#10;        &lt;Box style={{ flex: 1, background: '#FFFFFF', borderRadius: 16, padding: 22, boxShadow: '0 4px 16px rgba(15,42,67,0.10)', flexDirection: 'column', gap: 12 }}&gt;&#10;            &lt;Box style={{ flexDirection: 'row', alignItems: 'center', gap: 10 }}&gt;&#10;                &lt;Box style={{ width: 36, height: 36, borderRadius: 9, background: '#8A5A2B', justifyContent: 'center', alignItems: 'center' }}&gt;&#10;                    &lt;Text style={{ fontSize: 19, fontWeight: 'bold', color: '#FFFFFF' }}&gt;2&lt;/Text&gt;&#10;                &lt;/Box&gt;&#10;                &lt;Text style={{ fontSize: 22, fontWeight: 'bold', color: '#8A5A2B' }}&gt;沉降与分选（rate-limited）&lt;/Text&gt;&#10;            &lt;/Box&gt;&#10;            &lt;Text style={{ fontSize: 17, color: '#2C3E50', lineHeight: 1.5 }}&gt;每列悬浮沙按「指数衰减」往下沉——沉多少跟当前悬浮量和水深成正比：&lt;/Text&gt;&#10;            &lt;Box style={{ background: '#0F2A43', borderRadius: 10, padding: '12px 16px' }}&gt;&#10;                &lt;Text style={{ fontSize: 16, color: '#F8D8A0', fontFamily: 'monospace', lineHeight: 1.7 }}&gt;&#10;                    desiredH = suspH × 64 × dt ÷ 水深&lt;br /&gt;&#10;                    desiredL = suspL × 38 × dt ÷ 水深&#10;                &lt;/Text&gt;&#10;            &lt;/Box&gt;&#10;            &lt;Text style={{ fontSize: 17, color: '#2C3E50', lineHeight: 1.5 }}&gt;两相**合计**限幅（不是各限各的）：&lt;/Text&gt;&#10;            &lt;Box style={{ background: '#0F2A43', borderRadius: 10, padding: '12px 16px' }}&gt;&#10;                &lt;Text style={{ fontSize: 16, color: '#F8D8A0', fontFamily: 'monospace', lineHeight: 1.7 }}&gt;&#10;                    scale = min(1, 预算 ÷ (desiredH+desiredL))&lt;br /&gt;&#10;                    实沉 = 期望 × scale&#10;                &lt;/Text&gt;&#10;            &lt;/Box&gt;&#10;            &lt;Box style={{ background: 'rgba(29,78,121,0.10)', borderRadius: 8, padding: '10px 14px' }}&gt;&#10;                &lt;Text style={{ fontSize: 15, color: '#1D4E79', lineHeight: 1.55 }}&gt;&lt;span style={{ fontWeight: 'bold' }}&gt;两个要点：&lt;/span&gt;① 64:38 = 1.68 倍速度差 → 自动分选；② 合计限幅 → 浅水区不会一帧清空（v2.2 修复的瞬移隐患）。&lt;/Text&gt;&#10;            &lt;/Box&gt;&#10;        &lt;/Box&gt;&#10;    &lt;/Box&gt;&#10;    &lt;Box style={{ height: 40, flexDirection: 'row', alignItems: 'center', justifyContent: 'space-between' }}&gt;&#10;        &lt;Box style={{ flexDirection: 'row', alignItems: 'center', gap: 8 }}&gt;&#10;            &lt;Box style={{ width: 12, height: 12, background: '#1D4E79' }} /&gt;&#10;            &lt;Text style={{ fontSize: 14, color: '#5D6D7E' }}&gt;水沙三相算法 · HelloWorld&lt;/Text&gt;&#10;        &lt;/Box&gt;&#10;        &lt;Text style={{ fontSize: 14, color: '#5D6D7E' }}&gt;15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71500" y="438150"/>
            <a:ext cx="11049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2A43"/>
                </a:solidFill>
                <a:latin typeface="Microsoft YaHei"/>
                <a:ea typeface="Microsoft YaHei"/>
              </a:rPr>
              <a:t>四步流水线</a:t>
            </a:r>
            <a:r>
              <a:rPr lang="en-US" sz="2400" b="1">
                <a:solidFill>
                  <a:srgbClr val="0F2A4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2A43"/>
                </a:solidFill>
                <a:latin typeface="Microsoft YaHei"/>
                <a:ea typeface="Microsoft YaHei"/>
              </a:rPr>
              <a:t>公式展开（一）水面平衡</a:t>
            </a:r>
            <a:r>
              <a:rPr lang="en-US" sz="2400" b="1">
                <a:solidFill>
                  <a:srgbClr val="0F2A4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400" b="1">
                <a:solidFill>
                  <a:srgbClr val="0F2A43"/>
                </a:solidFill>
                <a:latin typeface="Microsoft YaHei"/>
                <a:ea typeface="Microsoft YaHei"/>
              </a:rPr>
              <a:t>与</a:t>
            </a:r>
            <a:r>
              <a:rPr lang="en-US" sz="2400" b="1">
                <a:solidFill>
                  <a:srgbClr val="0F2A4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400" b="1">
                <a:solidFill>
                  <a:srgbClr val="0F2A43"/>
                </a:solidFill>
                <a:latin typeface="Microsoft YaHei"/>
                <a:ea typeface="Microsoft YaHei"/>
              </a:rPr>
              <a:t>沉降分选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571500" y="1047750"/>
            <a:ext cx="5391150" cy="523875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2A43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781050" y="125730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1D4E79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95350" y="13239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219200" y="1304925"/>
            <a:ext cx="2085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D4E79"/>
                </a:solidFill>
                <a:latin typeface="Microsoft YaHei"/>
                <a:ea typeface="Microsoft YaHei"/>
              </a:rPr>
              <a:t>水面平衡（</a:t>
            </a:r>
            <a:r>
              <a:rPr lang="en-US" sz="1650" b="1">
                <a:solidFill>
                  <a:srgbClr val="1D4E79"/>
                </a:solidFill>
                <a:latin typeface="Microsoft YaHei"/>
                <a:ea typeface="Microsoft YaHei"/>
              </a:rPr>
              <a:t>leveling</a:t>
            </a:r>
            <a:r>
              <a:rPr lang="zh-CN" sz="1650" b="1">
                <a:solidFill>
                  <a:srgbClr val="1D4E79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81050" y="1714500"/>
            <a:ext cx="49720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2C3E50"/>
                </a:solidFill>
                <a:latin typeface="Microsoft YaHei"/>
                <a:ea typeface="Microsoft YaHei"/>
              </a:rPr>
              <a:t>目标：找一个水面高度</a:t>
            </a:r>
            <a:r>
              <a:rPr lang="en-US" sz="1275">
                <a:solidFill>
                  <a:srgbClr val="2C3E50"/>
                </a:solidFill>
                <a:latin typeface="Microsoft YaHei"/>
                <a:ea typeface="Microsoft YaHei"/>
              </a:rPr>
              <a:t xml:space="preserve"> b</a:t>
            </a:r>
            <a:r>
              <a:rPr lang="zh-CN" sz="1275">
                <a:solidFill>
                  <a:srgbClr val="2C3E50"/>
                </a:solidFill>
                <a:latin typeface="Microsoft YaHei"/>
                <a:ea typeface="Microsoft YaHei"/>
              </a:rPr>
              <a:t>，让水的总量刚好装下，且表面斜率等于重力倾角：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781050" y="2419350"/>
            <a:ext cx="4972050" cy="857250"/>
          </a:xfrm>
          <a:prstGeom prst="roundRect">
            <a:avLst>
              <a:gd name="adj" fmla="val 11111"/>
            </a:avLst>
          </a:prstGeom>
          <a:solidFill>
            <a:srgbClr val="0F2A43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933450" y="2533650"/>
            <a:ext cx="466725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>targetTop[c] = b + tan(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倾角</a:t>
            </a: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)·(c − 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中心</a:t>
            </a: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>)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Σ (targetTop − sandTop) = 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水的总量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81050" y="3390900"/>
            <a:ext cx="49720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2C3E50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275">
                <a:solidFill>
                  <a:srgbClr val="2C3E50"/>
                </a:solidFill>
                <a:latin typeface="Microsoft YaHei"/>
                <a:ea typeface="Microsoft YaHei"/>
              </a:rPr>
              <a:t>用二分法找。然后每列把「多出来的水」搬给「缺水的列」：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781050" y="3800475"/>
            <a:ext cx="4972050" cy="1162050"/>
          </a:xfrm>
          <a:prstGeom prst="roundRect">
            <a:avLst>
              <a:gd name="adj" fmla="val 8197"/>
            </a:avLst>
          </a:prstGeom>
          <a:solidFill>
            <a:srgbClr val="0F2A43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933450" y="3914775"/>
            <a:ext cx="4667250" cy="9334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err[c] = 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当前水面</a:t>
            </a: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 − 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目标水面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>q = min(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多出量</a:t>
            </a: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, 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缺口</a:t>
            </a: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, 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速率×</a:t>
            </a: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>dt)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donor 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水面</a:t>
            </a: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 −q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，</a:t>
            </a: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receiver 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水面</a:t>
            </a: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 +q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781050" y="5076825"/>
            <a:ext cx="4972050" cy="704850"/>
          </a:xfrm>
          <a:prstGeom prst="roundRect">
            <a:avLst>
              <a:gd name="adj" fmla="val 10811"/>
            </a:avLst>
          </a:prstGeom>
          <a:solidFill>
            <a:srgbClr val="F39C12">
              <a:alpha val="12000"/>
            </a:srgbClr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914400" y="5172075"/>
            <a:ext cx="47053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B06A00"/>
                </a:solidFill>
                <a:latin typeface="Microsoft YaHei"/>
                <a:ea typeface="Microsoft YaHei"/>
              </a:rPr>
              <a:t>红线：</a:t>
            </a:r>
            <a:r>
              <a:rPr lang="zh-CN" sz="1125">
                <a:solidFill>
                  <a:srgbClr val="B06A00"/>
                </a:solidFill>
                <a:latin typeface="Microsoft YaHei"/>
                <a:ea typeface="Microsoft YaHei"/>
              </a:rPr>
              <a:t>禁止每列各自直接</a:t>
            </a:r>
            <a:r>
              <a:rPr lang="en-US" sz="1125">
                <a:solidFill>
                  <a:srgbClr val="B06A00"/>
                </a:solidFill>
                <a:latin typeface="Microsoft YaHei"/>
                <a:ea typeface="Microsoft YaHei"/>
              </a:rPr>
              <a:t xml:space="preserve"> lerp </a:t>
            </a:r>
            <a:r>
              <a:rPr lang="zh-CN" sz="1125">
                <a:solidFill>
                  <a:srgbClr val="B06A00"/>
                </a:solidFill>
                <a:latin typeface="Microsoft YaHei"/>
                <a:ea typeface="Microsoft YaHei"/>
              </a:rPr>
              <a:t>到目标——那会凭空造水</a:t>
            </a:r>
            <a:r>
              <a:rPr lang="en-US" sz="1125">
                <a:solidFill>
                  <a:srgbClr val="B06A00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B06A00"/>
                </a:solidFill>
                <a:latin typeface="Microsoft YaHei"/>
                <a:ea typeface="Microsoft YaHei"/>
              </a:rPr>
              <a:t>灭水，必须「从多的搬给少的」。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229350" y="1047750"/>
            <a:ext cx="5391150" cy="523875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2A43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6438900" y="125730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8A5A2B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553200" y="13239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877050" y="1304925"/>
            <a:ext cx="2724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8A5A2B"/>
                </a:solidFill>
                <a:latin typeface="Microsoft YaHei"/>
                <a:ea typeface="Microsoft YaHei"/>
              </a:rPr>
              <a:t>沉降与分选（</a:t>
            </a:r>
            <a:r>
              <a:rPr lang="en-US" sz="1650" b="1">
                <a:solidFill>
                  <a:srgbClr val="8A5A2B"/>
                </a:solidFill>
                <a:latin typeface="Microsoft YaHei"/>
                <a:ea typeface="Microsoft YaHei"/>
              </a:rPr>
              <a:t>rate-limited</a:t>
            </a:r>
            <a:r>
              <a:rPr lang="zh-CN" sz="1650" b="1">
                <a:solidFill>
                  <a:srgbClr val="8A5A2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438900" y="1714500"/>
            <a:ext cx="49720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2C3E50"/>
                </a:solidFill>
                <a:latin typeface="Microsoft YaHei"/>
                <a:ea typeface="Microsoft YaHei"/>
              </a:rPr>
              <a:t>每列悬浮沙按「指数衰减」往下沉——沉多少跟当前悬浮量和水深成正比：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6438900" y="2419350"/>
            <a:ext cx="4972050" cy="857250"/>
          </a:xfrm>
          <a:prstGeom prst="roundRect">
            <a:avLst>
              <a:gd name="adj" fmla="val 11111"/>
            </a:avLst>
          </a:prstGeom>
          <a:solidFill>
            <a:srgbClr val="0F2A43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591300" y="2533650"/>
            <a:ext cx="466725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desiredH = suspH × 64 × dt ÷ 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水深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desiredL = suspL × 38 × dt ÷ 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水深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438900" y="3390900"/>
            <a:ext cx="49720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2C3E50"/>
                </a:solidFill>
                <a:latin typeface="Microsoft YaHei"/>
                <a:ea typeface="Microsoft YaHei"/>
              </a:rPr>
              <a:t>两相</a:t>
            </a:r>
            <a:r>
              <a:rPr lang="en-US" sz="1275">
                <a:solidFill>
                  <a:srgbClr val="2C3E50"/>
                </a:solidFill>
                <a:latin typeface="Microsoft YaHei"/>
                <a:ea typeface="Microsoft YaHei"/>
              </a:rPr>
              <a:t>**</a:t>
            </a:r>
            <a:r>
              <a:rPr lang="zh-CN" sz="1275">
                <a:solidFill>
                  <a:srgbClr val="2C3E50"/>
                </a:solidFill>
                <a:latin typeface="Microsoft YaHei"/>
                <a:ea typeface="Microsoft YaHei"/>
              </a:rPr>
              <a:t>合计</a:t>
            </a:r>
            <a:r>
              <a:rPr lang="en-US" sz="1275">
                <a:solidFill>
                  <a:srgbClr val="2C3E50"/>
                </a:solidFill>
                <a:latin typeface="Microsoft YaHei"/>
                <a:ea typeface="Microsoft YaHei"/>
              </a:rPr>
              <a:t>**</a:t>
            </a:r>
            <a:r>
              <a:rPr lang="zh-CN" sz="1275">
                <a:solidFill>
                  <a:srgbClr val="2C3E50"/>
                </a:solidFill>
                <a:latin typeface="Microsoft YaHei"/>
                <a:ea typeface="Microsoft YaHei"/>
              </a:rPr>
              <a:t>限幅（不是各限各的）：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438900" y="3800475"/>
            <a:ext cx="4972050" cy="857250"/>
          </a:xfrm>
          <a:prstGeom prst="roundRect">
            <a:avLst>
              <a:gd name="adj" fmla="val 11111"/>
            </a:avLst>
          </a:prstGeom>
          <a:solidFill>
            <a:srgbClr val="0F2A43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591300" y="3914775"/>
            <a:ext cx="466725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scale = min(1, 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预算</a:t>
            </a: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 ÷ (desiredH+desiredL))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实沉</a:t>
            </a: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 = 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期望</a:t>
            </a: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 × scale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438900" y="4772025"/>
            <a:ext cx="4972050" cy="723900"/>
          </a:xfrm>
          <a:prstGeom prst="roundRect">
            <a:avLst>
              <a:gd name="adj" fmla="val 10526"/>
            </a:avLst>
          </a:prstGeom>
          <a:solidFill>
            <a:srgbClr val="1D4E79">
              <a:alpha val="10000"/>
            </a:srgbClr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572250" y="4867275"/>
            <a:ext cx="47053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1D4E79"/>
                </a:solidFill>
                <a:latin typeface="Microsoft YaHei"/>
                <a:ea typeface="Microsoft YaHei"/>
              </a:rPr>
              <a:t>两个要点：</a:t>
            </a:r>
            <a:r>
              <a:rPr lang="en-US" sz="1125">
                <a:solidFill>
                  <a:srgbClr val="1D4E79"/>
                </a:solidFill>
                <a:latin typeface="Microsoft YaHei"/>
                <a:ea typeface="Microsoft YaHei"/>
              </a:rPr>
              <a:t xml:space="preserve">① 64:38 = 1.68 </a:t>
            </a:r>
            <a:r>
              <a:rPr lang="zh-CN" sz="1125">
                <a:solidFill>
                  <a:srgbClr val="1D4E79"/>
                </a:solidFill>
                <a:latin typeface="Microsoft YaHei"/>
                <a:ea typeface="Microsoft YaHei"/>
              </a:rPr>
              <a:t>倍速度差</a:t>
            </a:r>
            <a:r>
              <a:rPr lang="en-US" sz="1125">
                <a:solidFill>
                  <a:srgbClr val="1D4E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1D4E79"/>
                </a:solidFill>
                <a:latin typeface="Microsoft YaHei"/>
                <a:ea typeface="Microsoft YaHei"/>
              </a:rPr>
              <a:t>自动分选；②</a:t>
            </a:r>
            <a:r>
              <a:rPr lang="en-US" sz="1125">
                <a:solidFill>
                  <a:srgbClr val="1D4E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1D4E79"/>
                </a:solidFill>
                <a:latin typeface="Microsoft YaHei"/>
                <a:ea typeface="Microsoft YaHei"/>
              </a:rPr>
              <a:t>合计限幅</a:t>
            </a:r>
            <a:r>
              <a:rPr lang="en-US" sz="1125">
                <a:solidFill>
                  <a:srgbClr val="1D4E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1D4E79"/>
                </a:solidFill>
                <a:latin typeface="Microsoft YaHei"/>
                <a:ea typeface="Microsoft YaHei"/>
              </a:rPr>
              <a:t>浅水区不会一帧清空（</a:t>
            </a:r>
            <a:r>
              <a:rPr lang="en-US" sz="1125">
                <a:solidFill>
                  <a:srgbClr val="1D4E79"/>
                </a:solidFill>
                <a:latin typeface="Microsoft YaHei"/>
                <a:ea typeface="Microsoft YaHei"/>
              </a:rPr>
              <a:t xml:space="preserve">v2.2 </a:t>
            </a:r>
            <a:r>
              <a:rPr lang="zh-CN" sz="1125">
                <a:solidFill>
                  <a:srgbClr val="1D4E79"/>
                </a:solidFill>
                <a:latin typeface="Microsoft YaHei"/>
                <a:ea typeface="Microsoft YaHei"/>
              </a:rPr>
              <a:t>修复的瞬移隐患）。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571500" y="6429375"/>
            <a:ext cx="114300" cy="114300"/>
          </a:xfrm>
          <a:prstGeom prst="rect">
            <a:avLst/>
          </a:prstGeom>
          <a:solidFill>
            <a:srgbClr val="1D4E79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62000" y="6400800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D6D7E"/>
                </a:solidFill>
                <a:latin typeface="Microsoft YaHei"/>
                <a:ea typeface="Microsoft YaHei"/>
              </a:rPr>
              <a:t>水沙三相算法</a:t>
            </a: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 xml:space="preserve"> · HelloWorld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>06 / 16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91" name="" descr="&lt;Slide style={{ width: 1280, height: 720, background: '#F5F8FB', padding: '20px 60px', flexDirection: 'column' }}&gt;&#10;    &lt;Box style={{ height: 90, justifyContent: 'center' }}&gt;&#10;        &lt;Text style={{ fontSize: 32, fontWeight: 'bold', color: '#0F2A43' }}&gt;四步流水线 · 公式展开（二）坡度滑移 与 摇晃扬起&lt;/Text&gt;&#10;    &lt;/Box&gt;&#10;    &lt;Box style={{ flex: 1, flexDirection: 'row', gap: 28 }}&gt;&#10;        {/* 左：安息角滑移 */}&#10;        &lt;Box style={{ flex: 1, background: '#FFFFFF', borderRadius: 16, padding: 22, boxShadow: '0 4px 16px rgba(15,42,67,0.10)', flexDirection: 'column', gap: 12 }}&gt;&#10;            &lt;Box style={{ flexDirection: 'row', alignItems: 'center', gap: 10 }}&gt;&#10;                &lt;Box style={{ width: 36, height: 36, borderRadius: 9, background: '#C9A15C', justifyContent: 'center', alignItems: 'center' }}&gt;&#10;                    &lt;Text style={{ fontSize: 19, fontWeight: 'bold', color: '#FFFFFF' }}&gt;3&lt;/Text&gt;&#10;                &lt;/Box&gt;&#10;                &lt;Text style={{ fontSize: 22, fontWeight: 'bold', color: '#A87F2E' }}&gt;坡度滑移（v2.4 判据）&lt;/Text&gt;&#10;            &lt;/Box&gt;&#10;            &lt;Text style={{ fontSize: 17, color: '#2C3E50', lineHeight: 1.5 }}&gt;相邻两列的沙面坡度，减去重力目标坡后，超过安息角才滑：&lt;/Text&gt;&#10;            &lt;Box style={{ background: '#0F2A43', borderRadius: 10, padding: '12px 16px' }}&gt;&#10;                &lt;Text style={{ fontSize: 16, color: '#F8D8A0', fontFamily: 'monospace', lineHeight: 1.7 }}&gt;&#10;                    d = 右列沙顶 − 左列沙顶&lt;br /&gt;&#10;                    deviation = d − tan(倾角)&lt;br /&gt;&#10;                    |deviation| 超过 tan(30°) 触发&#10;                &lt;/Text&gt;&#10;            &lt;/Box&gt;&#10;            &lt;Text style={{ fontSize: 17, color: '#2C3E50', lineHeight: 1.5 }}&gt;滑动量取「超角部分的一半」，且受通量与预算双重封顶：&lt;/Text&gt;&#10;            &lt;Box style={{ background: '#0F2A43', borderRadius: 10, padding: '12px 16px' }}&gt;&#10;                &lt;Text style={{ fontSize: 16, color: '#F8D8A0', fontFamily: 'monospace', lineHeight: 1.7 }}&gt;&#10;                    q = min(超角÷2, 24×dt, 两列剩余预算)&lt;br /&gt;&#10;                    从高列顶取 q → 卸到低列顶&#10;                &lt;/Text&gt;&#10;            &lt;/Box&gt;&#10;            &lt;Box style={{ background: 'rgba(29,78,121,0.10)', borderRadius: 8, padding: '10px 14px' }}&gt;&#10;                &lt;Text style={{ fontSize: 15, color: '#1D4E79', lineHeight: 1.55 }}&gt;&lt;span style={{ fontWeight: 'bold' }}&gt;细节：&lt;/span&gt;取沙「表层优先」——轻沙在上先被搬走，所以滑移自动把轻沙铺到沙堆外围。每子步做 4~6 次左右交替扫描，消除方向偏差。&lt;/Text&gt;&#10;            &lt;/Box&gt;&#10;        &lt;/Box&gt;&#10;        {/* 右：摇晃扬起 */}&#10;        &lt;Box style={{ flex: 1, background: '#FFFFFF', borderRadius: 16, padding: 22, boxShadow: '0 4px 16px rgba(15,42,67,0.10)', flexDirection: 'column', gap: 12 }}&gt;&#10;            &lt;Box style={{ flexDirection: 'row', alignItems: 'center', gap: 10 }}&gt;&#10;                &lt;Box style={{ width: 36, height: 36, borderRadius: 9, background: '#F39C12', justifyContent: 'center', alignItems: 'center' }}&gt;&#10;                    &lt;Text style={{ fontSize: 19, fontWeight: 'bold', color: '#FFFFFF' }}&gt;+&lt;/Text&gt;&#10;                &lt;/Box&gt;&#10;                &lt;Text style={{ fontSize: 22, fontWeight: 'bold', color: '#B06A00' }}&gt;摇晃扬起（三重限幅）&lt;/Text&gt;&#10;            &lt;/Box&gt;&#10;            &lt;Text style={{ fontSize: 17, color: '#2C3E50', lineHeight: 1.5 }}&gt;摇晃能量 E 平滑跟随输入、松手指数衰减（防抖防突跳）：&lt;/Text&gt;&#10;            &lt;Box style={{ background: '#0F2A43', borderRadius: 10, padding: '12px 16px' }}&gt;&#10;                &lt;Text style={{ fontSize: 16, color: '#F8D8A0', fontFamily: 'monospace', lineHeight: 1.7 }}&gt;&#10;                    E += clamp(目标 − E, ±8×dt)   摇晃时&lt;br /&gt;&#10;                    E ×= exp(−衰减×dt)            松手后&#10;                &lt;/Text&gt;&#10;            &lt;/Box&gt;&#10;            &lt;Text style={{ fontSize: 17, color: '#2C3E50', lineHeight: 1.5 }}&gt;扬起率 = 能量 × 表层带宽 × 按表层轻重占比分配，再被三道闸门取最小：&lt;/Text&gt;&#10;            &lt;Box style={{ background: '#0F2A43', borderRadius: 10, padding: '12px 16px' }}&gt;&#10;                &lt;Text style={{ fontSize: 16, color: '#F8D8A0', fontFamily: 'monospace', lineHeight: 1.7 }}&gt;&#10;                    actual = min( 理论率,&lt;br /&gt;&#10;                    &amp;nbsp;&amp;nbsp;剩余预算率, 表层沙 ÷ dt )&#10;                &lt;/Text&gt;&#10;            &lt;/Box&gt;&#10;            &lt;Box style={{ background: 'rgba(243,156,18,0.12)', borderRadius: 8, padding: '10px 14px' }}&gt;&#10;                &lt;Text style={{ fontSize: 15, color: '#B06A00', lineHeight: 1.55 }}&gt;&lt;span style={{ fontWeight: 'bold' }}&gt;分配比：&lt;/span&gt;轻沙 40/s、重沙 36/s——轻沙更容易被抖起来，这正是悬浮相 35:65 偏轻的源头（P12 峰值推导的起点）。&lt;/Text&gt;&#10;            &lt;/Box&gt;&#10;        &lt;/Box&gt;&#10;    &lt;/Box&gt;&#10;    &lt;Box style={{ height: 40, flexDirection: 'row', alignItems: 'center', justifyContent: 'space-between' }}&gt;&#10;        &lt;Box style={{ flexDirection: 'row', alignItems: 'center', gap: 8 }}&gt;&#10;            &lt;Box style={{ width: 12, height: 12, background: '#1D4E79' }} /&gt;&#10;            &lt;Text style={{ fontSize: 14, color: '#5D6D7E' }}&gt;水沙三相算法 · HelloWorld&lt;/Text&gt;&#10;        &lt;/Box&gt;&#10;        &lt;Text style={{ fontSize: 14, color: '#5D6D7E' }}&gt;16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71500" y="438150"/>
            <a:ext cx="11049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2A43"/>
                </a:solidFill>
                <a:latin typeface="Microsoft YaHei"/>
                <a:ea typeface="Microsoft YaHei"/>
              </a:rPr>
              <a:t>四步流水线</a:t>
            </a:r>
            <a:r>
              <a:rPr lang="en-US" sz="2400" b="1">
                <a:solidFill>
                  <a:srgbClr val="0F2A4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2A43"/>
                </a:solidFill>
                <a:latin typeface="Microsoft YaHei"/>
                <a:ea typeface="Microsoft YaHei"/>
              </a:rPr>
              <a:t>公式展开（二）坡度滑移</a:t>
            </a:r>
            <a:r>
              <a:rPr lang="en-US" sz="2400" b="1">
                <a:solidFill>
                  <a:srgbClr val="0F2A4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400" b="1">
                <a:solidFill>
                  <a:srgbClr val="0F2A43"/>
                </a:solidFill>
                <a:latin typeface="Microsoft YaHei"/>
                <a:ea typeface="Microsoft YaHei"/>
              </a:rPr>
              <a:t>与</a:t>
            </a:r>
            <a:r>
              <a:rPr lang="en-US" sz="2400" b="1">
                <a:solidFill>
                  <a:srgbClr val="0F2A4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400" b="1">
                <a:solidFill>
                  <a:srgbClr val="0F2A43"/>
                </a:solidFill>
                <a:latin typeface="Microsoft YaHei"/>
                <a:ea typeface="Microsoft YaHei"/>
              </a:rPr>
              <a:t>摇晃扬起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571500" y="1047750"/>
            <a:ext cx="5391150" cy="523875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2A43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781050" y="125730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C9A15C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95350" y="13239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219200" y="1304925"/>
            <a:ext cx="2181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A87F2E"/>
                </a:solidFill>
                <a:latin typeface="Microsoft YaHei"/>
                <a:ea typeface="Microsoft YaHei"/>
              </a:rPr>
              <a:t>坡度滑移（</a:t>
            </a:r>
            <a:r>
              <a:rPr lang="en-US" sz="1650" b="1">
                <a:solidFill>
                  <a:srgbClr val="A87F2E"/>
                </a:solidFill>
                <a:latin typeface="Microsoft YaHei"/>
                <a:ea typeface="Microsoft YaHei"/>
              </a:rPr>
              <a:t xml:space="preserve">v2.4 </a:t>
            </a:r>
            <a:r>
              <a:rPr lang="zh-CN" sz="1650" b="1">
                <a:solidFill>
                  <a:srgbClr val="A87F2E"/>
                </a:solidFill>
                <a:latin typeface="Microsoft YaHei"/>
                <a:ea typeface="Microsoft YaHei"/>
              </a:rPr>
              <a:t>判据）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81050" y="1714500"/>
            <a:ext cx="49720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2C3E50"/>
                </a:solidFill>
                <a:latin typeface="Microsoft YaHei"/>
                <a:ea typeface="Microsoft YaHei"/>
              </a:rPr>
              <a:t>相邻两列的沙面坡度，减去重力目标坡后，超过安息角才滑：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781050" y="2124075"/>
            <a:ext cx="4972050" cy="1162050"/>
          </a:xfrm>
          <a:prstGeom prst="roundRect">
            <a:avLst>
              <a:gd name="adj" fmla="val 8197"/>
            </a:avLst>
          </a:prstGeom>
          <a:solidFill>
            <a:srgbClr val="0F2A43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933450" y="2238375"/>
            <a:ext cx="4667250" cy="9334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d = 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右列沙顶</a:t>
            </a: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 − 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左列沙顶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>deviation = d − tan(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倾角</a:t>
            </a: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>)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|deviation| 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超过</a:t>
            </a: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 tan(30°) 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触发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81050" y="3400425"/>
            <a:ext cx="49720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2C3E50"/>
                </a:solidFill>
                <a:latin typeface="Microsoft YaHei"/>
                <a:ea typeface="Microsoft YaHei"/>
              </a:rPr>
              <a:t>滑动量取「超角部分的一半」，且受通量与预算双重封顶：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781050" y="3810000"/>
            <a:ext cx="4972050" cy="857250"/>
          </a:xfrm>
          <a:prstGeom prst="roundRect">
            <a:avLst>
              <a:gd name="adj" fmla="val 11111"/>
            </a:avLst>
          </a:prstGeom>
          <a:solidFill>
            <a:srgbClr val="0F2A43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933450" y="3924300"/>
            <a:ext cx="466725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>q = min(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超角÷</a:t>
            </a: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2, 24×dt, 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两列剩余预算</a:t>
            </a: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>)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从高列顶取</a:t>
            </a: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 q → 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卸到低列顶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781050" y="4781550"/>
            <a:ext cx="4972050" cy="723900"/>
          </a:xfrm>
          <a:prstGeom prst="roundRect">
            <a:avLst>
              <a:gd name="adj" fmla="val 10526"/>
            </a:avLst>
          </a:prstGeom>
          <a:solidFill>
            <a:srgbClr val="1D4E79">
              <a:alpha val="10000"/>
            </a:srgbClr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914400" y="4876800"/>
            <a:ext cx="47053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1D4E79"/>
                </a:solidFill>
                <a:latin typeface="Microsoft YaHei"/>
                <a:ea typeface="Microsoft YaHei"/>
              </a:rPr>
              <a:t>细节：</a:t>
            </a:r>
            <a:r>
              <a:rPr lang="zh-CN" sz="1125">
                <a:solidFill>
                  <a:srgbClr val="1D4E79"/>
                </a:solidFill>
                <a:latin typeface="Microsoft YaHei"/>
                <a:ea typeface="Microsoft YaHei"/>
              </a:rPr>
              <a:t>取沙「表层优先」——轻沙在上先被搬走，所以滑移自动把轻沙铺到沙堆外围。每子步做</a:t>
            </a:r>
            <a:r>
              <a:rPr lang="en-US" sz="1125">
                <a:solidFill>
                  <a:srgbClr val="1D4E79"/>
                </a:solidFill>
                <a:latin typeface="Microsoft YaHei"/>
                <a:ea typeface="Microsoft YaHei"/>
              </a:rPr>
              <a:t xml:space="preserve"> 4~6 </a:t>
            </a:r>
            <a:r>
              <a:rPr lang="zh-CN" sz="1125">
                <a:solidFill>
                  <a:srgbClr val="1D4E79"/>
                </a:solidFill>
                <a:latin typeface="Microsoft YaHei"/>
                <a:ea typeface="Microsoft YaHei"/>
              </a:rPr>
              <a:t>次左右交替扫描，消除方向偏差。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229350" y="1047750"/>
            <a:ext cx="5391150" cy="523875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2A43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6438900" y="125730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F39C12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543675" y="1323975"/>
            <a:ext cx="142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+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877050" y="1304925"/>
            <a:ext cx="2095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B06A00"/>
                </a:solidFill>
                <a:latin typeface="Microsoft YaHei"/>
                <a:ea typeface="Microsoft YaHei"/>
              </a:rPr>
              <a:t>摇晃扬起（三重限幅）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438900" y="1714500"/>
            <a:ext cx="49720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2C3E50"/>
                </a:solidFill>
                <a:latin typeface="Microsoft YaHei"/>
                <a:ea typeface="Microsoft YaHei"/>
              </a:rPr>
              <a:t>摇晃能量</a:t>
            </a:r>
            <a:r>
              <a:rPr lang="en-US" sz="1275">
                <a:solidFill>
                  <a:srgbClr val="2C3E50"/>
                </a:solidFill>
                <a:latin typeface="Microsoft YaHei"/>
                <a:ea typeface="Microsoft YaHei"/>
              </a:rPr>
              <a:t xml:space="preserve"> E </a:t>
            </a:r>
            <a:r>
              <a:rPr lang="zh-CN" sz="1275">
                <a:solidFill>
                  <a:srgbClr val="2C3E50"/>
                </a:solidFill>
                <a:latin typeface="Microsoft YaHei"/>
                <a:ea typeface="Microsoft YaHei"/>
              </a:rPr>
              <a:t>平滑跟随输入、松手指数衰减（防抖防突跳）：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6438900" y="2124075"/>
            <a:ext cx="4972050" cy="857250"/>
          </a:xfrm>
          <a:prstGeom prst="roundRect">
            <a:avLst>
              <a:gd name="adj" fmla="val 11111"/>
            </a:avLst>
          </a:prstGeom>
          <a:solidFill>
            <a:srgbClr val="0F2A43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591300" y="2238375"/>
            <a:ext cx="466725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>E += clamp(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目标</a:t>
            </a: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 − E, ±8×dt)   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摇晃时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>E ×= exp(−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衰减×</a:t>
            </a: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dt)            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松手后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438900" y="3095625"/>
            <a:ext cx="49720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2C3E50"/>
                </a:solidFill>
                <a:latin typeface="Microsoft YaHei"/>
                <a:ea typeface="Microsoft YaHei"/>
              </a:rPr>
              <a:t>扬起率</a:t>
            </a:r>
            <a:r>
              <a:rPr lang="en-US" sz="1275">
                <a:solidFill>
                  <a:srgbClr val="2C3E50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275">
                <a:solidFill>
                  <a:srgbClr val="2C3E50"/>
                </a:solidFill>
                <a:latin typeface="Microsoft YaHei"/>
                <a:ea typeface="Microsoft YaHei"/>
              </a:rPr>
              <a:t>能量</a:t>
            </a:r>
            <a:r>
              <a:rPr lang="en-US" sz="1275">
                <a:solidFill>
                  <a:srgbClr val="2C3E50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275">
                <a:solidFill>
                  <a:srgbClr val="2C3E50"/>
                </a:solidFill>
                <a:latin typeface="Microsoft YaHei"/>
                <a:ea typeface="Microsoft YaHei"/>
              </a:rPr>
              <a:t>表层带宽</a:t>
            </a:r>
            <a:r>
              <a:rPr lang="en-US" sz="1275">
                <a:solidFill>
                  <a:srgbClr val="2C3E50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275">
                <a:solidFill>
                  <a:srgbClr val="2C3E50"/>
                </a:solidFill>
                <a:latin typeface="Microsoft YaHei"/>
                <a:ea typeface="Microsoft YaHei"/>
              </a:rPr>
              <a:t>按表层轻重占比分配，再被三道闸门取最小：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6438900" y="3800475"/>
            <a:ext cx="4972050" cy="857250"/>
          </a:xfrm>
          <a:prstGeom prst="roundRect">
            <a:avLst>
              <a:gd name="adj" fmla="val 11111"/>
            </a:avLst>
          </a:prstGeom>
          <a:solidFill>
            <a:srgbClr val="0F2A43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591300" y="3914775"/>
            <a:ext cx="466725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actual = min( 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理论率</a:t>
            </a: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>,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  剩余预算率</a:t>
            </a: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, </a:t>
            </a:r>
            <a:r>
              <a:rPr lang="zh-CN" sz="1200">
                <a:solidFill>
                  <a:srgbClr val="F8D8A0"/>
                </a:solidFill>
                <a:latin typeface="monospace"/>
                <a:ea typeface="monospace"/>
              </a:rPr>
              <a:t>表层沙</a:t>
            </a:r>
            <a:r>
              <a:rPr lang="en-US" sz="1200">
                <a:solidFill>
                  <a:srgbClr val="F8D8A0"/>
                </a:solidFill>
                <a:latin typeface="monospace"/>
                <a:ea typeface="monospace"/>
              </a:rPr>
              <a:t xml:space="preserve"> ÷ dt )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438900" y="4772025"/>
            <a:ext cx="4972050" cy="723900"/>
          </a:xfrm>
          <a:prstGeom prst="roundRect">
            <a:avLst>
              <a:gd name="adj" fmla="val 10526"/>
            </a:avLst>
          </a:prstGeom>
          <a:solidFill>
            <a:srgbClr val="F39C12">
              <a:alpha val="12000"/>
            </a:srgbClr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572250" y="4867275"/>
            <a:ext cx="47053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B06A00"/>
                </a:solidFill>
                <a:latin typeface="Microsoft YaHei"/>
                <a:ea typeface="Microsoft YaHei"/>
              </a:rPr>
              <a:t>分配比：</a:t>
            </a:r>
            <a:r>
              <a:rPr lang="zh-CN" sz="1125">
                <a:solidFill>
                  <a:srgbClr val="B06A00"/>
                </a:solidFill>
                <a:latin typeface="Microsoft YaHei"/>
                <a:ea typeface="Microsoft YaHei"/>
              </a:rPr>
              <a:t>轻沙</a:t>
            </a:r>
            <a:r>
              <a:rPr lang="en-US" sz="1125">
                <a:solidFill>
                  <a:srgbClr val="B06A00"/>
                </a:solidFill>
                <a:latin typeface="Microsoft YaHei"/>
                <a:ea typeface="Microsoft YaHei"/>
              </a:rPr>
              <a:t xml:space="preserve"> 40/s</a:t>
            </a:r>
            <a:r>
              <a:rPr lang="zh-CN" sz="1125">
                <a:solidFill>
                  <a:srgbClr val="B06A00"/>
                </a:solidFill>
                <a:latin typeface="Microsoft YaHei"/>
                <a:ea typeface="Microsoft YaHei"/>
              </a:rPr>
              <a:t>、重沙</a:t>
            </a:r>
            <a:r>
              <a:rPr lang="en-US" sz="1125">
                <a:solidFill>
                  <a:srgbClr val="B06A00"/>
                </a:solidFill>
                <a:latin typeface="Microsoft YaHei"/>
                <a:ea typeface="Microsoft YaHei"/>
              </a:rPr>
              <a:t xml:space="preserve"> 36/s——</a:t>
            </a:r>
            <a:r>
              <a:rPr lang="zh-CN" sz="1125">
                <a:solidFill>
                  <a:srgbClr val="B06A00"/>
                </a:solidFill>
                <a:latin typeface="Microsoft YaHei"/>
                <a:ea typeface="Microsoft YaHei"/>
              </a:rPr>
              <a:t>轻沙更容易被抖起来，这正是悬浮相</a:t>
            </a:r>
            <a:r>
              <a:rPr lang="en-US" sz="1125">
                <a:solidFill>
                  <a:srgbClr val="B06A00"/>
                </a:solidFill>
                <a:latin typeface="Microsoft YaHei"/>
                <a:ea typeface="Microsoft YaHei"/>
              </a:rPr>
              <a:t xml:space="preserve"> 35:65 </a:t>
            </a:r>
            <a:r>
              <a:rPr lang="zh-CN" sz="1125">
                <a:solidFill>
                  <a:srgbClr val="B06A00"/>
                </a:solidFill>
                <a:latin typeface="Microsoft YaHei"/>
                <a:ea typeface="Microsoft YaHei"/>
              </a:rPr>
              <a:t>偏轻的源头（</a:t>
            </a:r>
            <a:r>
              <a:rPr lang="en-US" sz="1125">
                <a:solidFill>
                  <a:srgbClr val="B06A00"/>
                </a:solidFill>
                <a:latin typeface="Microsoft YaHei"/>
                <a:ea typeface="Microsoft YaHei"/>
              </a:rPr>
              <a:t xml:space="preserve">P12 </a:t>
            </a:r>
            <a:r>
              <a:rPr lang="zh-CN" sz="1125">
                <a:solidFill>
                  <a:srgbClr val="B06A00"/>
                </a:solidFill>
                <a:latin typeface="Microsoft YaHei"/>
                <a:ea typeface="Microsoft YaHei"/>
              </a:rPr>
              <a:t>峰值推导的起点）。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571500" y="6429375"/>
            <a:ext cx="114300" cy="114300"/>
          </a:xfrm>
          <a:prstGeom prst="rect">
            <a:avLst/>
          </a:prstGeom>
          <a:solidFill>
            <a:srgbClr val="1D4E79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62000" y="6400800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D6D7E"/>
                </a:solidFill>
                <a:latin typeface="Microsoft YaHei"/>
                <a:ea typeface="Microsoft YaHei"/>
              </a:rPr>
              <a:t>水沙三相算法</a:t>
            </a: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 xml:space="preserve"> · HelloWorld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>07 / 16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121" name="" descr="&lt;Slide style={{ width: 1280, height: 720, background: '#F5F8FB', padding: '20px 60px', flexDirection: 'column' }}&gt;&#10;    &lt;Box style={{ height: 100, justifyContent: 'center' }}&gt;&#10;        &lt;Text style={{ fontSize: 34, fontWeight: 'bold', color: '#0F2A43' }}&gt;三条底线与一个坑&lt;/Text&gt;&#10;    &lt;/Box&gt;&#10;    &lt;Box style={{ flex: 1, flexDirection: 'row', gap: 32 }}&gt;&#10;        {/* 左：阈值表 */}&#10;        &lt;Box style={{ width: 620, flexDirection: 'column', gap: 12 }}&gt;&#10;            &lt;Text style={{ fontSize: 20, fontWeight: 'bold', color: '#1D4E79' }}&gt;三条硬底线（测试不过 = 方案不过）&lt;/Text&gt;&#10;            &lt;Table&#10;                style={{ width: '100%', height: 300 }}&#10;                defaultTextStyle={{ fontSize: 17, textAlign: 'center', color: '#2C3E50' }}&#10;                defaultCellStyle={{&#10;                    border: {&#10;                        left: { width: 1, color: '#D5DEE7' },&#10;                        right: { width: 1, color: '#D5DEE7' },&#10;                        top: { width: 1, color: '#D5DEE7' },&#10;                        bottom: { width: 1, color: '#D5DEE7' },&#10;                    },&#10;                }}&#10;                cells={[&#10;                    [&#10;                        { text: '底线', textStyle: { bold: true, color: '#FFFFFF' }, cellStyle: { background: { color: '#0F2A43' } } },&#10;                        { text: '阈值', textStyle: { bold: true, color: '#FFFFFF' }, cellStyle: { background: { color: '#0F2A43' } } },&#10;                        { text: '含义', textStyle: { bold: true, color: '#FFFFFF' }, cellStyle: { background: { color: '#0F2A43' } } },&#10;                    ],&#10;                    ['分相守恒', { text: '漂移 &lt; 0.1%', textStyle: { bold: true, color: '#1D4E79' } }, '重沙/轻沙/水各自不灭不生'],&#10;                    ['无瞬移', { text: '子步 ≤ 0.5 列', textStyle: { bold: true, color: '#1D4E79' } }, '沙顶每步最多移半列'],&#10;                    [{ text: '摇晃峰值', cellStyle: { background: { color: '#F5F8FB' } } }, { text: '65% ~ 80%', textStyle: { bold: true, color: '#B06A00' }, cellStyle: { background: { color: '#F5F8FB' } } }, { text: '出带即报警复核', cellStyle: { background: { color: '#F5F8FB' } } }],&#10;                    ['静置残余', '≤ 5%', '8 秒内悬沙落干净'],&#10;                    ['安息角', '坡度 ≤ 32°', '沙堆不塌成饼'],&#10;                ]}&#10;            /&gt;&#10;            &lt;Text style={{ fontSize: 16, color: '#5D6D7E' }}&gt;另有验收线「峰值 ≥ 50%」兜底；65%~80% 是诊断带，不是放行线。&lt;/Text&gt;&#10;        &lt;/Box&gt;&#10;        {/* 右：v2.4 坡度判据 */}&#10;        &lt;Box style={{ flex: 1, flexDirection: 'column', gap: 14 }}&gt;&#10;            &lt;Text style={{ fontSize: 20, fontWeight: 'bold', color: '#1D4E79' }}&gt;一个坑：坡度要看「相对重力」&lt;/Text&gt;&#10;            &lt;Box style={{ background: '#FFFFFF', borderRadius: 14, padding: 16, boxShadow: '0 4px 16px rgba(15,42,67,0.10)', justifyContent: 'center' }}&gt;&#10;                &lt;svg width={470} height={230} viewBox='0 0 520 230'&gt;&#10;                    {/* 错误判据 */}&#10;                    &lt;text x={130} y={24} fill='#B03A2E' fontSize={16} fontWeight='bold' textAnchor='middle'&gt;旧判据：只看列间差&lt;/text&gt;&#10;                    &lt;rect x={40} y={40} width={180} height={130} fill='#ECF2F7' stroke='#95A5A6' strokeWidth={2} rx={8} /&gt;&#10;                    &lt;line x1={40} y1={140} x2={220} y2={140} stroke='#8A5A2B' strokeWidth={5} /&gt;&#10;                    &lt;text x={130} y={192} fill='#B03A2E' fontSize={14} textAnchor='middle'&gt;容器斜 45° 时沙面「水平」≠ 稳定&lt;/text&gt;&#10;                    {/* 正确判据 */}&#10;                    &lt;text x={390} y={24} fill='#1D4E79' fontSize={16} fontWeight='bold' textAnchor='middle'&gt;v2.4：先减去重力目标坡&lt;/text&gt;&#10;                    &lt;rect x={300} y={40} width={180} height={130} fill='#ECF2F7' stroke='#1D4E79' strokeWidth={2} rx={8} /&gt;&#10;                    &lt;line x1={300} y1={150} x2={480} y2={110} stroke='#8A5A2B' strokeWidth={5} /&gt;&#10;                    &lt;line x1={300} y1={165} x2={480} y2={165} stroke='#F39C12' strokeWidth={2} strokeDasharray='6 4' /&gt;&#10;                    &lt;text x={390} y={192} fill='#1D4E79' fontSize={14} textAnchor='middle'&gt;|沙面坡 − 重力坡| 超过 tan30° 才滑&lt;/text&gt;&#10;                    {/* 判据公式 */}&#10;                    &lt;rect x={40} y={140} width={0} height={0} fill='none' /&gt;&#10;                &lt;/svg&gt;&#10;            &lt;/Box&gt;&#10;            &lt;Box style={{ background: '#0F2A43', borderRadius: 12, padding: '14px 18px' }}&gt;&#10;                &lt;Text style={{ fontSize: 18, color: '#F39C12', fontFamily: 'monospace', textAlign: 'center' }}&gt;|d − tan(倾角)| 超过 tan(30°) 即滑移&lt;/Text&gt;&#10;                &lt;Text style={{ fontSize: 15, color: '#C8D8E6', textAlign: 'center', marginTop: 6 }}&gt;直立时退化为旧判据，老测试全部不受影响&lt;/Text&gt;&#10;            &lt;/Box&gt;&#10;            &lt;Box style={{ background: 'rgba(243,156,18,0.12)', borderRadius: 12, padding: '12px 16px', flexDirection: 'row', gap: 10, alignItems: 'flex-start' }}&gt;&#10;                &lt;FAIcon name='exclamation-circle' style={{ fill: '#F39C12', width: 24, height: 24 }} /&gt;&#10;                &lt;Text style={{ fontSize: 16, color: '#B06A00', lineHeight: 1.5, flex: 1 }}&gt;&#10;                    待办提醒：测试脚本里「连续旋转到 180°」的 Run B 与「±89° + 事件跨越」的 G3 目标还没对齐，执行前需改口径。&#10;                &lt;/Text&gt;&#10;            &lt;/Box&gt;&#10;        &lt;/Box&gt;&#10;    &lt;/Box&gt;&#10;    &lt;Box style={{ height: 40, flexDirection: 'row', alignItems: 'center', justifyContent: 'space-between' }}&gt;&#10;        &lt;Box style={{ flexDirection: 'row', alignItems: 'center', gap: 8 }}&gt;&#10;            &lt;Box style={{ width: 12, height: 12, background: '#1D4E79' }} /&gt;&#10;            &lt;Text style={{ fontSize: 14, color: '#5D6D7E' }}&gt;水沙三相算法 · HelloWorld&lt;/Text&gt;&#10;        &lt;/Box&gt;&#10;        &lt;Text style={{ fontSize: 14, color: '#5D6D7E' }}&gt;13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571500" y="4762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2A43"/>
                </a:solidFill>
                <a:latin typeface="Microsoft YaHei"/>
                <a:ea typeface="Microsoft YaHei"/>
              </a:rPr>
              <a:t>三条底线与一个坑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71500" y="1143000"/>
            <a:ext cx="590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D4E79"/>
                </a:solidFill>
                <a:latin typeface="Microsoft YaHei"/>
                <a:ea typeface="Microsoft YaHei"/>
              </a:rPr>
              <a:t>三条硬底线（测试不过</a:t>
            </a:r>
            <a:r>
              <a:rPr lang="en-US" sz="1500" b="1">
                <a:solidFill>
                  <a:srgbClr val="1D4E79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500" b="1">
                <a:solidFill>
                  <a:srgbClr val="1D4E79"/>
                </a:solidFill>
                <a:latin typeface="Microsoft YaHei"/>
                <a:ea typeface="Microsoft YaHei"/>
              </a:rPr>
              <a:t>方案不过）</a:t>
            </a:r>
            <a:endParaRPr/>
          </a:p>
        </p:txBody>
      </p:sp>
      <p:graphicFrame>
        <p:nvGraphicFramePr>
          <p:cNvPr id="125" name=""/>
          <p:cNvGraphicFramePr/>
          <p:nvPr/>
        </p:nvGraphicFramePr>
        <p:xfrm rot="0" flipH="0" flipV="0">
          <a:off x="571500" y="1485900"/>
          <a:ext cx="5905500" cy="2857500"/>
        </p:xfrm>
        <a:graphic>
          <a:graphicData uri="http://schemas.openxmlformats.org/drawingml/2006/table">
            <a:tbl>
              <a:tblGrid>
                <a:gridCol w="1134886">
                  <a:extLst>
                    <a:ext uri="{9D8B030D-6E8A-4147-A177-3AD203B41FA5}">
                      <a16:colId val="1"/>
                    </a:ext>
                  </a:extLst>
                </a:gridCol>
                <a:gridCol w="1676004">
                  <a:extLst>
                    <a:ext uri="{9D8B030D-6E8A-4147-A177-3AD203B41FA5}">
                      <a16:colId val="2"/>
                    </a:ext>
                  </a:extLst>
                </a:gridCol>
                <a:gridCol w="3094611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底线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阈值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含义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2C3E50"/>
                          </a:solidFill>
                          <a:latin typeface="Microsoft YaHei"/>
                          <a:ea typeface="Microsoft YaHei"/>
                        </a:rPr>
                        <a:t>分相守恒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D4E79"/>
                          </a:solidFill>
                          <a:latin typeface="Microsoft YaHei"/>
                          <a:ea typeface="Microsoft YaHei"/>
                        </a:rPr>
                        <a:t>漂移 &lt; 0.1%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2C3E50"/>
                          </a:solidFill>
                          <a:latin typeface="Microsoft YaHei"/>
                          <a:ea typeface="Microsoft YaHei"/>
                        </a:rPr>
                        <a:t>重沙/轻沙/水各自不灭不生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2C3E50"/>
                          </a:solidFill>
                          <a:latin typeface="Microsoft YaHei"/>
                          <a:ea typeface="Microsoft YaHei"/>
                        </a:rPr>
                        <a:t>无瞬移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D4E79"/>
                          </a:solidFill>
                          <a:latin typeface="Microsoft YaHei"/>
                          <a:ea typeface="Microsoft YaHei"/>
                        </a:rPr>
                        <a:t>子步 ≤ 0.5 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2C3E50"/>
                          </a:solidFill>
                          <a:latin typeface="Microsoft YaHei"/>
                          <a:ea typeface="Microsoft YaHei"/>
                        </a:rPr>
                        <a:t>沙顶每步最多移半列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2C3E50"/>
                          </a:solidFill>
                          <a:latin typeface="Microsoft YaHei"/>
                          <a:ea typeface="Microsoft YaHei"/>
                        </a:rPr>
                        <a:t>摇晃峰值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B06A00"/>
                          </a:solidFill>
                          <a:latin typeface="Microsoft YaHei"/>
                          <a:ea typeface="Microsoft YaHei"/>
                        </a:rPr>
                        <a:t>65% ~ 80%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2C3E50"/>
                          </a:solidFill>
                          <a:latin typeface="Microsoft YaHei"/>
                          <a:ea typeface="Microsoft YaHei"/>
                        </a:rPr>
                        <a:t>出带即报警复核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2C3E50"/>
                          </a:solidFill>
                          <a:latin typeface="Microsoft YaHei"/>
                          <a:ea typeface="Microsoft YaHei"/>
                        </a:rPr>
                        <a:t>静置残余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2C3E50"/>
                          </a:solidFill>
                          <a:latin typeface="Microsoft YaHei"/>
                          <a:ea typeface="Microsoft YaHei"/>
                        </a:rPr>
                        <a:t>≤ 5%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2C3E50"/>
                          </a:solidFill>
                          <a:latin typeface="Microsoft YaHei"/>
                          <a:ea typeface="Microsoft YaHei"/>
                        </a:rPr>
                        <a:t>8 秒内悬沙落干净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2C3E50"/>
                          </a:solidFill>
                          <a:latin typeface="Microsoft YaHei"/>
                          <a:ea typeface="Microsoft YaHei"/>
                        </a:rPr>
                        <a:t>安息角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2C3E50"/>
                          </a:solidFill>
                          <a:latin typeface="Microsoft YaHei"/>
                          <a:ea typeface="Microsoft YaHei"/>
                        </a:rPr>
                        <a:t>坡度 ≤ 32°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2C3E50"/>
                          </a:solidFill>
                          <a:latin typeface="Microsoft YaHei"/>
                          <a:ea typeface="Microsoft YaHei"/>
                        </a:rPr>
                        <a:t>沙堆不塌成饼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571500" y="4457700"/>
            <a:ext cx="590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D6D7E"/>
                </a:solidFill>
                <a:latin typeface="Microsoft YaHei"/>
                <a:ea typeface="Microsoft YaHei"/>
              </a:rPr>
              <a:t>另有验收线「峰值</a:t>
            </a:r>
            <a:r>
              <a:rPr lang="en-US" sz="1200">
                <a:solidFill>
                  <a:srgbClr val="5D6D7E"/>
                </a:solidFill>
                <a:latin typeface="Microsoft YaHei"/>
                <a:ea typeface="Microsoft YaHei"/>
              </a:rPr>
              <a:t xml:space="preserve"> ≥ 50%</a:t>
            </a:r>
            <a:r>
              <a:rPr lang="zh-CN" sz="1200">
                <a:solidFill>
                  <a:srgbClr val="5D6D7E"/>
                </a:solidFill>
                <a:latin typeface="Microsoft YaHei"/>
                <a:ea typeface="Microsoft YaHei"/>
              </a:rPr>
              <a:t>」兜底；</a:t>
            </a:r>
            <a:r>
              <a:rPr lang="en-US" sz="1200">
                <a:solidFill>
                  <a:srgbClr val="5D6D7E"/>
                </a:solidFill>
                <a:latin typeface="Microsoft YaHei"/>
                <a:ea typeface="Microsoft YaHei"/>
              </a:rPr>
              <a:t xml:space="preserve">65%~80% </a:t>
            </a:r>
            <a:r>
              <a:rPr lang="zh-CN" sz="1200">
                <a:solidFill>
                  <a:srgbClr val="5D6D7E"/>
                </a:solidFill>
                <a:latin typeface="Microsoft YaHei"/>
                <a:ea typeface="Microsoft YaHei"/>
              </a:rPr>
              <a:t>是诊断带，不是放行线。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781800" y="1143000"/>
            <a:ext cx="4838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D4E79"/>
                </a:solidFill>
                <a:latin typeface="Microsoft YaHei"/>
                <a:ea typeface="Microsoft YaHei"/>
              </a:rPr>
              <a:t>一个坑：坡度要看「相对重力」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781800" y="1504950"/>
            <a:ext cx="4838700" cy="2495550"/>
          </a:xfrm>
          <a:prstGeom prst="roundRect">
            <a:avLst>
              <a:gd name="adj" fmla="val 5344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2A43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934200" y="1657350"/>
            <a:ext cx="4476750" cy="2190750"/>
          </a:xfrm>
          <a:prstGeom prst="rect">
            <a:avLst/>
          </a:prstGeom>
          <a:ln/>
        </p:spPr>
      </p:pic>
      <p:sp>
        <p:nvSpPr>
          <p:cNvPr id="130" name=""/>
          <p:cNvSpPr/>
          <p:nvPr/>
        </p:nvSpPr>
        <p:spPr>
          <a:xfrm rot="0" flipH="0" flipV="0">
            <a:off x="6781800" y="4133850"/>
            <a:ext cx="4838700" cy="704850"/>
          </a:xfrm>
          <a:prstGeom prst="roundRect">
            <a:avLst>
              <a:gd name="adj" fmla="val 16216"/>
            </a:avLst>
          </a:prstGeom>
          <a:solidFill>
            <a:srgbClr val="0F2A43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953250" y="4267200"/>
            <a:ext cx="449580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350">
                <a:solidFill>
                  <a:srgbClr val="F39C12"/>
                </a:solidFill>
                <a:latin typeface="monospace"/>
                <a:ea typeface="monospace"/>
              </a:rPr>
              <a:t>|d − tan(</a:t>
            </a:r>
            <a:r>
              <a:rPr lang="zh-CN" sz="1350">
                <a:solidFill>
                  <a:srgbClr val="F39C12"/>
                </a:solidFill>
                <a:latin typeface="monospace"/>
                <a:ea typeface="monospace"/>
              </a:rPr>
              <a:t>倾角</a:t>
            </a:r>
            <a:r>
              <a:rPr lang="en-US" sz="1350">
                <a:solidFill>
                  <a:srgbClr val="F39C12"/>
                </a:solidFill>
                <a:latin typeface="monospace"/>
                <a:ea typeface="monospace"/>
              </a:rPr>
              <a:t xml:space="preserve">)| </a:t>
            </a:r>
            <a:r>
              <a:rPr lang="zh-CN" sz="1350">
                <a:solidFill>
                  <a:srgbClr val="F39C12"/>
                </a:solidFill>
                <a:latin typeface="monospace"/>
                <a:ea typeface="monospace"/>
              </a:rPr>
              <a:t>超过</a:t>
            </a:r>
            <a:r>
              <a:rPr lang="en-US" sz="1350">
                <a:solidFill>
                  <a:srgbClr val="F39C12"/>
                </a:solidFill>
                <a:latin typeface="monospace"/>
                <a:ea typeface="monospace"/>
              </a:rPr>
              <a:t xml:space="preserve"> tan(30°) </a:t>
            </a:r>
            <a:r>
              <a:rPr lang="zh-CN" sz="1350">
                <a:solidFill>
                  <a:srgbClr val="F39C12"/>
                </a:solidFill>
                <a:latin typeface="monospace"/>
                <a:ea typeface="monospace"/>
              </a:rPr>
              <a:t>即滑移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953250" y="4533900"/>
            <a:ext cx="44958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C8D8E6"/>
                </a:solidFill>
                <a:latin typeface="Microsoft YaHei"/>
                <a:ea typeface="Microsoft YaHei"/>
              </a:rPr>
              <a:t>直立时退化为旧判据，老测试全部不受影响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6781800" y="4972050"/>
            <a:ext cx="4838700" cy="781050"/>
          </a:xfrm>
          <a:prstGeom prst="roundRect">
            <a:avLst>
              <a:gd name="adj" fmla="val 14634"/>
            </a:avLst>
          </a:prstGeom>
          <a:solidFill>
            <a:srgbClr val="F39C12">
              <a:alpha val="12000"/>
            </a:srgbClr>
          </a:solidFill>
          <a:ln/>
        </p:spPr>
        <p:txBody>
          <a:bodyPr/>
          <a:p/>
        </p:txBody>
      </p:sp>
      <p:pic>
        <p:nvPicPr>
          <p:cNvPr id="1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934200" y="5086350"/>
            <a:ext cx="228600" cy="228600"/>
          </a:xfrm>
          <a:prstGeom prst="rect">
            <a:avLst/>
          </a:prstGeom>
          <a:ln/>
        </p:spPr>
      </p:pic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258050" y="5086350"/>
            <a:ext cx="42100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B06A00"/>
                </a:solidFill>
                <a:latin typeface="Microsoft YaHei"/>
                <a:ea typeface="Microsoft YaHei"/>
              </a:rPr>
              <a:t>待办提醒：测试脚本里「连续旋转到</a:t>
            </a:r>
            <a:r>
              <a:rPr lang="en-US" sz="1200">
                <a:solidFill>
                  <a:srgbClr val="B06A00"/>
                </a:solidFill>
                <a:latin typeface="Microsoft YaHei"/>
                <a:ea typeface="Microsoft YaHei"/>
              </a:rPr>
              <a:t xml:space="preserve"> 180°</a:t>
            </a:r>
            <a:r>
              <a:rPr lang="zh-CN" sz="1200">
                <a:solidFill>
                  <a:srgbClr val="B06A00"/>
                </a:solidFill>
                <a:latin typeface="Microsoft YaHei"/>
                <a:ea typeface="Microsoft YaHei"/>
              </a:rPr>
              <a:t>」的</a:t>
            </a:r>
            <a:r>
              <a:rPr lang="en-US" sz="1200">
                <a:solidFill>
                  <a:srgbClr val="B06A00"/>
                </a:solidFill>
                <a:latin typeface="Microsoft YaHei"/>
                <a:ea typeface="Microsoft YaHei"/>
              </a:rPr>
              <a:t xml:space="preserve"> Run B </a:t>
            </a:r>
            <a:r>
              <a:rPr lang="zh-CN" sz="1200">
                <a:solidFill>
                  <a:srgbClr val="B06A00"/>
                </a:solidFill>
                <a:latin typeface="Microsoft YaHei"/>
                <a:ea typeface="Microsoft YaHei"/>
              </a:rPr>
              <a:t>与「±</a:t>
            </a:r>
            <a:r>
              <a:rPr lang="en-US" sz="1200">
                <a:solidFill>
                  <a:srgbClr val="B06A00"/>
                </a:solidFill>
                <a:latin typeface="Microsoft YaHei"/>
                <a:ea typeface="Microsoft YaHei"/>
              </a:rPr>
              <a:t xml:space="preserve">89° + </a:t>
            </a:r>
            <a:r>
              <a:rPr lang="zh-CN" sz="1200">
                <a:solidFill>
                  <a:srgbClr val="B06A00"/>
                </a:solidFill>
                <a:latin typeface="Microsoft YaHei"/>
                <a:ea typeface="Microsoft YaHei"/>
              </a:rPr>
              <a:t>事件跨越」的</a:t>
            </a:r>
            <a:r>
              <a:rPr lang="en-US" sz="1200">
                <a:solidFill>
                  <a:srgbClr val="B06A00"/>
                </a:solidFill>
                <a:latin typeface="Microsoft YaHei"/>
                <a:ea typeface="Microsoft YaHei"/>
              </a:rPr>
              <a:t xml:space="preserve"> G3 </a:t>
            </a:r>
            <a:r>
              <a:rPr lang="zh-CN" sz="1200">
                <a:solidFill>
                  <a:srgbClr val="B06A00"/>
                </a:solidFill>
                <a:latin typeface="Microsoft YaHei"/>
                <a:ea typeface="Microsoft YaHei"/>
              </a:rPr>
              <a:t>目标还没对齐，执行前需改口径。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571500" y="6429375"/>
            <a:ext cx="114300" cy="114300"/>
          </a:xfrm>
          <a:prstGeom prst="rect">
            <a:avLst/>
          </a:prstGeom>
          <a:solidFill>
            <a:srgbClr val="1D4E79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62000" y="6400800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D6D7E"/>
                </a:solidFill>
                <a:latin typeface="Microsoft YaHei"/>
                <a:ea typeface="Microsoft YaHei"/>
              </a:rPr>
              <a:t>水沙三相算法</a:t>
            </a: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 xml:space="preserve"> · HelloWorld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D6D7E"/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2026-10-14T11:56:36Z</dcterms:created>
  <dcterms:modified xsi:type="dcterms:W3CDTF">2026-10-14T11:56:36Z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{"AIGC":{"Label":"1","ContentProducer":"00119111010856365494821B355","ProduceID":"01a13880891878bd8f2ef0b9584e007a","ReservedCode1":"","ContentPropagator":"00119111010856365494821B355","PropagateID":"01a13880891878bd8f2ef0b9584e007a","ReservedCode2":""}}</vt:lpwstr>
  </property>
</Properties>
</file>